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9" r:id="rId8"/>
    <p:sldId id="262" r:id="rId9"/>
    <p:sldId id="263" r:id="rId10"/>
    <p:sldId id="264" r:id="rId11"/>
    <p:sldId id="265" r:id="rId12"/>
    <p:sldId id="266" r:id="rId13"/>
    <p:sldId id="267" r:id="rId14"/>
  </p:sldIdLst>
  <p:sldSz cx="12192000" cy="6858000"/>
  <p:notesSz cx="6858000" cy="9144000"/>
  <p:embeddedFontLst>
    <p:embeddedFont>
      <p:font typeface="Calibri" panose="020F0502020204030204" pitchFamily="34" charset="0"/>
      <p:regular r:id="rId16"/>
      <p:bold r:id="rId17"/>
      <p:italic r:id="rId18"/>
      <p:boldItalic r:id="rId19"/>
    </p:embeddedFont>
    <p:embeddedFont>
      <p:font typeface="Lato" panose="020F0502020204030203" pitchFamily="34" charset="0"/>
      <p:regular r:id="rId20"/>
      <p:bold r:id="rId21"/>
      <p:italic r:id="rId22"/>
      <p:boldItalic r:id="rId23"/>
    </p:embeddedFont>
    <p:embeddedFont>
      <p:font typeface="Poppins"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ECEC5E-065B-4EF9-82AF-D43F44A7C0F6}">
  <a:tblStyle styleId="{2DECEC5E-065B-4EF9-82AF-D43F44A7C0F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715"/>
  </p:normalViewPr>
  <p:slideViewPr>
    <p:cSldViewPr snapToGrid="0">
      <p:cViewPr varScale="1">
        <p:scale>
          <a:sx n="119" d="100"/>
          <a:sy n="119" d="100"/>
        </p:scale>
        <p:origin x="216" y="24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3238500" y="4183260"/>
            <a:ext cx="5715000" cy="1905000"/>
          </a:xfrm>
          <a:prstGeom prst="rect">
            <a:avLst/>
          </a:prstGeom>
          <a:noFill/>
          <a:ln>
            <a:noFill/>
          </a:ln>
        </p:spPr>
      </p:pic>
      <p:sp>
        <p:nvSpPr>
          <p:cNvPr id="86" name="Google Shape;86;p13"/>
          <p:cNvSpPr txBox="1"/>
          <p:nvPr/>
        </p:nvSpPr>
        <p:spPr>
          <a:xfrm>
            <a:off x="2855595" y="769739"/>
            <a:ext cx="6480810" cy="1462980"/>
          </a:xfrm>
          <a:prstGeom prst="rect">
            <a:avLst/>
          </a:prstGeom>
          <a:noFill/>
          <a:ln>
            <a:noFill/>
          </a:ln>
        </p:spPr>
        <p:txBody>
          <a:bodyPr spcFirstLastPara="1" wrap="square" lIns="0" tIns="0" rIns="0" bIns="0" anchor="t" anchorCtr="0">
            <a:spAutoFit/>
          </a:bodyPr>
          <a:lstStyle/>
          <a:p>
            <a:pPr marL="0" marR="0" lvl="0" indent="0" algn="ctr" rtl="0">
              <a:lnSpc>
                <a:spcPct val="119979"/>
              </a:lnSpc>
              <a:spcBef>
                <a:spcPts val="0"/>
              </a:spcBef>
              <a:spcAft>
                <a:spcPts val="0"/>
              </a:spcAft>
              <a:buNone/>
            </a:pPr>
            <a:r>
              <a:rPr lang="en-US" sz="4800" b="1" i="0" u="none" strike="noStrike" cap="none">
                <a:solidFill>
                  <a:srgbClr val="001F3F"/>
                </a:solidFill>
                <a:latin typeface="Poppins"/>
                <a:ea typeface="Poppins"/>
                <a:cs typeface="Poppins"/>
                <a:sym typeface="Poppins"/>
              </a:rPr>
              <a:t>多目的最適化における</a:t>
            </a:r>
            <a:br>
              <a:rPr lang="en-US" sz="1800" b="0" i="0" u="none" strike="noStrike" cap="none">
                <a:solidFill>
                  <a:schemeClr val="dk1"/>
                </a:solidFill>
                <a:latin typeface="Calibri"/>
                <a:ea typeface="Calibri"/>
                <a:cs typeface="Calibri"/>
                <a:sym typeface="Calibri"/>
              </a:rPr>
            </a:br>
            <a:r>
              <a:rPr lang="en-US" sz="4800" b="1" i="0" u="none" strike="noStrike" cap="none">
                <a:solidFill>
                  <a:srgbClr val="001F3F"/>
                </a:solidFill>
                <a:latin typeface="Poppins"/>
                <a:ea typeface="Poppins"/>
                <a:cs typeface="Poppins"/>
                <a:sym typeface="Poppins"/>
              </a:rPr>
              <a:t> BOとGMRの比較検証</a:t>
            </a:r>
            <a:endParaRPr/>
          </a:p>
        </p:txBody>
      </p:sp>
      <p:sp>
        <p:nvSpPr>
          <p:cNvPr id="87" name="Google Shape;87;p13"/>
          <p:cNvSpPr txBox="1"/>
          <p:nvPr/>
        </p:nvSpPr>
        <p:spPr>
          <a:xfrm>
            <a:off x="1809750" y="2651819"/>
            <a:ext cx="6480810" cy="886397"/>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err="1">
                <a:solidFill>
                  <a:srgbClr val="C5A059"/>
                </a:solidFill>
                <a:latin typeface="Lato"/>
                <a:ea typeface="Lato"/>
                <a:cs typeface="Lato"/>
                <a:sym typeface="Lato"/>
              </a:rPr>
              <a:t>金子研究室の設計思想に基づく逆解析とベイズ最適化の融合とトレードオフ環境における実践的検証</a:t>
            </a:r>
            <a:endParaRPr dirty="0"/>
          </a:p>
        </p:txBody>
      </p:sp>
      <p:pic>
        <p:nvPicPr>
          <p:cNvPr id="88" name="Google Shape;88;p13" descr="image.png"/>
          <p:cNvPicPr preferRelativeResize="0"/>
          <p:nvPr/>
        </p:nvPicPr>
        <p:blipFill rotWithShape="1">
          <a:blip r:embed="rId5">
            <a:alphaModFix/>
          </a:blip>
          <a:srcRect/>
          <a:stretch/>
        </p:blipFill>
        <p:spPr>
          <a:xfrm>
            <a:off x="3238500" y="4183260"/>
            <a:ext cx="5715000" cy="1905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28575" y="0"/>
            <a:ext cx="12192000" cy="6858000"/>
          </a:xfrm>
          <a:prstGeom prst="rect">
            <a:avLst/>
          </a:prstGeom>
          <a:noFill/>
          <a:ln>
            <a:noFill/>
          </a:ln>
        </p:spPr>
      </p:pic>
      <p:sp>
        <p:nvSpPr>
          <p:cNvPr id="95" name="Google Shape;95;p14"/>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err="1">
                <a:solidFill>
                  <a:srgbClr val="001F3F"/>
                </a:solidFill>
                <a:latin typeface="Poppins"/>
                <a:ea typeface="Poppins"/>
                <a:cs typeface="Poppins"/>
                <a:sym typeface="Poppins"/>
              </a:rPr>
              <a:t>仮想化学プロセス：EO製造データセット</a:t>
            </a:r>
            <a:endParaRPr dirty="0"/>
          </a:p>
        </p:txBody>
      </p:sp>
      <p:sp>
        <p:nvSpPr>
          <p:cNvPr id="96" name="Google Shape;96;p14"/>
          <p:cNvSpPr/>
          <p:nvPr/>
        </p:nvSpPr>
        <p:spPr>
          <a:xfrm>
            <a:off x="571500" y="571500"/>
            <a:ext cx="76200" cy="6000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p14"/>
          <p:cNvSpPr txBox="1"/>
          <p:nvPr/>
        </p:nvSpPr>
        <p:spPr>
          <a:xfrm>
            <a:off x="571500" y="1754534"/>
            <a:ext cx="5715000" cy="664797"/>
          </a:xfrm>
          <a:prstGeom prst="rect">
            <a:avLst/>
          </a:prstGeom>
          <a:noFill/>
          <a:ln>
            <a:noFill/>
          </a:ln>
        </p:spPr>
        <p:txBody>
          <a:bodyPr spcFirstLastPara="1" wrap="square" lIns="0" tIns="0" rIns="0" bIns="0" anchor="t" anchorCtr="0">
            <a:spAutoFit/>
          </a:bodyPr>
          <a:lstStyle/>
          <a:p>
            <a:pPr>
              <a:lnSpc>
                <a:spcPct val="160000"/>
              </a:lnSpc>
            </a:pPr>
            <a:r>
              <a:rPr lang="en-US" sz="1350" b="0" i="0" u="none" strike="noStrike" cap="none" dirty="0" err="1">
                <a:solidFill>
                  <a:srgbClr val="4A4A4A"/>
                </a:solidFill>
                <a:latin typeface="Lato"/>
                <a:ea typeface="Lato"/>
                <a:cs typeface="Lato"/>
                <a:sym typeface="Lato"/>
              </a:rPr>
              <a:t>現実の化学プラント</a:t>
            </a:r>
            <a:r>
              <a:rPr lang="en-US" sz="1350" b="0" i="0" u="none" strike="noStrike" cap="none" dirty="0">
                <a:solidFill>
                  <a:srgbClr val="4A4A4A"/>
                </a:solidFill>
                <a:latin typeface="Lato"/>
                <a:ea typeface="Lato"/>
                <a:cs typeface="Lato"/>
                <a:sym typeface="Lato"/>
              </a:rPr>
              <a:t>（</a:t>
            </a:r>
            <a:r>
              <a:rPr lang="ja-JP" altLang="en-US" sz="1350" b="0" i="0" u="none" strike="noStrike" cap="none">
                <a:solidFill>
                  <a:srgbClr val="4A4A4A"/>
                </a:solidFill>
                <a:latin typeface="Lato"/>
                <a:ea typeface="Lato"/>
                <a:cs typeface="Lato"/>
                <a:sym typeface="Lato"/>
              </a:rPr>
              <a:t>エチレンオキシドの製造プロセス</a:t>
            </a:r>
            <a:r>
              <a:rPr lang="en-US" sz="1350" b="0" i="0" u="none" strike="noStrike" cap="none" dirty="0">
                <a:solidFill>
                  <a:srgbClr val="4A4A4A"/>
                </a:solidFill>
                <a:latin typeface="Lato"/>
                <a:ea typeface="Lato"/>
                <a:cs typeface="Lato"/>
                <a:sym typeface="Lato"/>
              </a:rPr>
              <a:t>）を模した、21個の説明変数(X)と2個の目的変数(Y)からなる10,000件の候補データを構築。</a:t>
            </a:r>
          </a:p>
        </p:txBody>
      </p:sp>
      <p:graphicFrame>
        <p:nvGraphicFramePr>
          <p:cNvPr id="98" name="Google Shape;98;p14"/>
          <p:cNvGraphicFramePr/>
          <p:nvPr>
            <p:extLst>
              <p:ext uri="{D42A27DB-BD31-4B8C-83A1-F6EECF244321}">
                <p14:modId xmlns:p14="http://schemas.microsoft.com/office/powerpoint/2010/main" val="394928282"/>
              </p:ext>
            </p:extLst>
          </p:nvPr>
        </p:nvGraphicFramePr>
        <p:xfrm>
          <a:off x="423603" y="3605868"/>
          <a:ext cx="5524499" cy="2714600"/>
        </p:xfrm>
        <a:graphic>
          <a:graphicData uri="http://schemas.openxmlformats.org/drawingml/2006/table">
            <a:tbl>
              <a:tblPr firstRow="1" bandRow="1">
                <a:noFill/>
                <a:tableStyleId>{2DECEC5E-065B-4EF9-82AF-D43F44A7C0F6}</a:tableStyleId>
              </a:tblPr>
              <a:tblGrid>
                <a:gridCol w="1472378">
                  <a:extLst>
                    <a:ext uri="{9D8B030D-6E8A-4147-A177-3AD203B41FA5}">
                      <a16:colId xmlns:a16="http://schemas.microsoft.com/office/drawing/2014/main" val="20000"/>
                    </a:ext>
                  </a:extLst>
                </a:gridCol>
                <a:gridCol w="2085560">
                  <a:extLst>
                    <a:ext uri="{9D8B030D-6E8A-4147-A177-3AD203B41FA5}">
                      <a16:colId xmlns:a16="http://schemas.microsoft.com/office/drawing/2014/main" val="20001"/>
                    </a:ext>
                  </a:extLst>
                </a:gridCol>
                <a:gridCol w="1966561">
                  <a:extLst>
                    <a:ext uri="{9D8B030D-6E8A-4147-A177-3AD203B41FA5}">
                      <a16:colId xmlns:a16="http://schemas.microsoft.com/office/drawing/2014/main" val="20002"/>
                    </a:ext>
                  </a:extLst>
                </a:gridCol>
              </a:tblGrid>
              <a:tr h="678650">
                <a:tc>
                  <a:txBody>
                    <a:bodyPr/>
                    <a:lstStyle/>
                    <a:p>
                      <a:pPr marL="0" marR="0" lvl="0" indent="0" algn="l" rtl="0">
                        <a:spcBef>
                          <a:spcPts val="0"/>
                        </a:spcBef>
                        <a:spcAft>
                          <a:spcPts val="0"/>
                        </a:spcAft>
                        <a:buNone/>
                      </a:pPr>
                      <a:r>
                        <a:rPr lang="en-US" sz="1350" b="1" i="0" u="none" strike="noStrike" cap="none">
                          <a:solidFill>
                            <a:srgbClr val="FFFFFF"/>
                          </a:solidFill>
                          <a:latin typeface="Lato"/>
                          <a:ea typeface="Lato"/>
                          <a:cs typeface="Lato"/>
                          <a:sym typeface="Lato"/>
                        </a:rPr>
                        <a:t>変数カテゴリー</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1F3F"/>
                    </a:solidFill>
                  </a:tcPr>
                </a:tc>
                <a:tc>
                  <a:txBody>
                    <a:bodyPr/>
                    <a:lstStyle/>
                    <a:p>
                      <a:pPr marL="0" marR="0" lvl="0" indent="0" algn="l" rtl="0">
                        <a:spcBef>
                          <a:spcPts val="0"/>
                        </a:spcBef>
                        <a:spcAft>
                          <a:spcPts val="0"/>
                        </a:spcAft>
                        <a:buNone/>
                      </a:pPr>
                      <a:r>
                        <a:rPr lang="en-US" sz="1350" b="1" i="0" u="none" strike="noStrike" cap="none" dirty="0" err="1">
                          <a:solidFill>
                            <a:srgbClr val="FFFFFF"/>
                          </a:solidFill>
                          <a:latin typeface="Lato"/>
                          <a:ea typeface="Lato"/>
                          <a:cs typeface="Lato"/>
                          <a:sym typeface="Lato"/>
                        </a:rPr>
                        <a:t>変数名</a:t>
                      </a:r>
                      <a:r>
                        <a:rPr lang="en-US" sz="1350" b="1" i="0" u="none" strike="noStrike" cap="none" dirty="0">
                          <a:solidFill>
                            <a:srgbClr val="FFFFFF"/>
                          </a:solidFill>
                          <a:latin typeface="Lato"/>
                          <a:ea typeface="Lato"/>
                          <a:cs typeface="Lato"/>
                          <a:sym typeface="Lato"/>
                        </a:rPr>
                        <a:t> (</a:t>
                      </a:r>
                      <a:r>
                        <a:rPr lang="en-US" sz="1350" b="1" i="0" u="none" strike="noStrike" cap="none" dirty="0" err="1">
                          <a:solidFill>
                            <a:srgbClr val="FFFFFF"/>
                          </a:solidFill>
                          <a:latin typeface="Lato"/>
                          <a:ea typeface="Lato"/>
                          <a:cs typeface="Lato"/>
                          <a:sym typeface="Lato"/>
                        </a:rPr>
                        <a:t>例</a:t>
                      </a:r>
                      <a:r>
                        <a:rPr lang="en-US" sz="1350" b="1" i="0" u="none" strike="noStrike" cap="none" dirty="0">
                          <a:solidFill>
                            <a:srgbClr val="FFFFFF"/>
                          </a:solidFill>
                          <a:latin typeface="Lato"/>
                          <a:ea typeface="Lato"/>
                          <a:cs typeface="Lato"/>
                          <a:sym typeface="Lato"/>
                        </a:rPr>
                        <a: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1F3F"/>
                    </a:solidFill>
                  </a:tcPr>
                </a:tc>
                <a:tc>
                  <a:txBody>
                    <a:bodyPr/>
                    <a:lstStyle/>
                    <a:p>
                      <a:pPr marL="0" marR="0" lvl="0" indent="0" algn="l" rtl="0">
                        <a:spcBef>
                          <a:spcPts val="0"/>
                        </a:spcBef>
                        <a:spcAft>
                          <a:spcPts val="0"/>
                        </a:spcAft>
                        <a:buNone/>
                      </a:pPr>
                      <a:r>
                        <a:rPr lang="en-US" sz="1350" b="1" i="0" u="none" strike="noStrike" cap="none">
                          <a:solidFill>
                            <a:srgbClr val="FFFFFF"/>
                          </a:solidFill>
                          <a:latin typeface="Lato"/>
                          <a:ea typeface="Lato"/>
                          <a:cs typeface="Lato"/>
                          <a:sym typeface="Lato"/>
                        </a:rPr>
                        <a:t>レンジ / 定義</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1F3F"/>
                    </a:solidFill>
                  </a:tcPr>
                </a:tc>
                <a:extLst>
                  <a:ext uri="{0D108BD9-81ED-4DB2-BD59-A6C34878D82A}">
                    <a16:rowId xmlns:a16="http://schemas.microsoft.com/office/drawing/2014/main" val="10000"/>
                  </a:ext>
                </a:extLst>
              </a:tr>
              <a:tr h="678650">
                <a:tc>
                  <a:txBody>
                    <a:bodyPr/>
                    <a:lstStyle/>
                    <a:p>
                      <a:pPr marL="0" marR="0" lvl="0" indent="0" algn="l" rtl="0">
                        <a:spcBef>
                          <a:spcPts val="0"/>
                        </a:spcBef>
                        <a:spcAft>
                          <a:spcPts val="0"/>
                        </a:spcAft>
                        <a:buNone/>
                      </a:pPr>
                      <a:r>
                        <a:rPr lang="en-US" sz="1200" b="0" i="0" u="none" strike="noStrike" cap="none">
                          <a:solidFill>
                            <a:srgbClr val="1A1A1A"/>
                          </a:solidFill>
                          <a:latin typeface="Lato"/>
                          <a:ea typeface="Lato"/>
                          <a:cs typeface="Lato"/>
                          <a:sym typeface="Lato"/>
                        </a:rPr>
                        <a:t>操作変数 (X01-21)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err="1">
                          <a:solidFill>
                            <a:srgbClr val="1A1A1A"/>
                          </a:solidFill>
                          <a:latin typeface="Lato"/>
                          <a:ea typeface="Lato"/>
                          <a:cs typeface="Lato"/>
                          <a:sym typeface="Lato"/>
                        </a:rPr>
                        <a:t>温度</a:t>
                      </a:r>
                      <a:r>
                        <a:rPr lang="en-US" sz="1200" b="0" i="0" u="none" strike="noStrike" cap="none" dirty="0">
                          <a:solidFill>
                            <a:srgbClr val="1A1A1A"/>
                          </a:solidFill>
                          <a:latin typeface="Lato"/>
                          <a:ea typeface="Lato"/>
                          <a:cs typeface="Lato"/>
                          <a:sym typeface="Lato"/>
                        </a:rPr>
                        <a:t>, </a:t>
                      </a:r>
                      <a:r>
                        <a:rPr lang="en-US" sz="1200" b="0" i="0" u="none" strike="noStrike" cap="none" dirty="0" err="1">
                          <a:solidFill>
                            <a:srgbClr val="1A1A1A"/>
                          </a:solidFill>
                          <a:latin typeface="Lato"/>
                          <a:ea typeface="Lato"/>
                          <a:cs typeface="Lato"/>
                          <a:sym typeface="Lato"/>
                        </a:rPr>
                        <a:t>圧力</a:t>
                      </a:r>
                      <a:r>
                        <a:rPr lang="en-US" sz="1200" b="0" i="0" u="none" strike="noStrike" cap="none" dirty="0">
                          <a:solidFill>
                            <a:srgbClr val="1A1A1A"/>
                          </a:solidFill>
                          <a:latin typeface="Lato"/>
                          <a:ea typeface="Lato"/>
                          <a:cs typeface="Lato"/>
                          <a:sym typeface="Lato"/>
                        </a:rPr>
                        <a:t>, </a:t>
                      </a:r>
                      <a:r>
                        <a:rPr lang="en-US" sz="1200" b="0" i="0" u="none" strike="noStrike" cap="none" dirty="0" err="1">
                          <a:solidFill>
                            <a:srgbClr val="1A1A1A"/>
                          </a:solidFill>
                          <a:latin typeface="Lato"/>
                          <a:ea typeface="Lato"/>
                          <a:cs typeface="Lato"/>
                          <a:sym typeface="Lato"/>
                        </a:rPr>
                        <a:t>流量</a:t>
                      </a:r>
                      <a:r>
                        <a:rPr lang="en-US" sz="1200" b="0" i="0" u="none" strike="noStrike" cap="none" dirty="0">
                          <a:solidFill>
                            <a:srgbClr val="1A1A1A"/>
                          </a:solidFill>
                          <a:latin typeface="Lato"/>
                          <a:ea typeface="Lato"/>
                          <a:cs typeface="Lato"/>
                          <a:sym typeface="Lato"/>
                        </a:rPr>
                        <a:t>, </a:t>
                      </a:r>
                      <a:r>
                        <a:rPr lang="en-US" sz="1200" b="0" i="0" u="none" strike="noStrike" cap="none" dirty="0" err="1">
                          <a:solidFill>
                            <a:srgbClr val="1A1A1A"/>
                          </a:solidFill>
                          <a:latin typeface="Lato"/>
                          <a:ea typeface="Lato"/>
                          <a:cs typeface="Lato"/>
                          <a:sym typeface="Lato"/>
                        </a:rPr>
                        <a:t>触媒量</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1A1A1A"/>
                          </a:solidFill>
                          <a:latin typeface="Lato"/>
                          <a:ea typeface="Lato"/>
                          <a:cs typeface="Lato"/>
                          <a:sym typeface="Lato"/>
                        </a:rPr>
                        <a:t>LHC法によるサンプリング</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78650">
                <a:tc>
                  <a:txBody>
                    <a:bodyPr/>
                    <a:lstStyle/>
                    <a:p>
                      <a:pPr marL="0" marR="0" lvl="0" indent="0" algn="l" rtl="0">
                        <a:spcBef>
                          <a:spcPts val="0"/>
                        </a:spcBef>
                        <a:spcAft>
                          <a:spcPts val="0"/>
                        </a:spcAft>
                        <a:buNone/>
                      </a:pPr>
                      <a:r>
                        <a:rPr lang="en-US" sz="1200" b="0" i="0" u="none" strike="noStrike" cap="none">
                          <a:solidFill>
                            <a:srgbClr val="1A1A1A"/>
                          </a:solidFill>
                          <a:latin typeface="Lato"/>
                          <a:ea typeface="Lato"/>
                          <a:cs typeface="Lato"/>
                          <a:sym typeface="Lato"/>
                        </a:rPr>
                        <a:t>目的変数 (Y3)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CFC"/>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Lato"/>
                          <a:ea typeface="Lato"/>
                          <a:cs typeface="Lato"/>
                          <a:sym typeface="Lato"/>
                        </a:rPr>
                        <a:t>エチレン転化率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CFC"/>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Lato"/>
                          <a:ea typeface="Lato"/>
                          <a:cs typeface="Lato"/>
                          <a:sym typeface="Lato"/>
                        </a:rPr>
                        <a:t>温度・触媒量に平方根的に依存</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CFC"/>
                    </a:solidFill>
                  </a:tcPr>
                </a:tc>
                <a:extLst>
                  <a:ext uri="{0D108BD9-81ED-4DB2-BD59-A6C34878D82A}">
                    <a16:rowId xmlns:a16="http://schemas.microsoft.com/office/drawing/2014/main" val="10002"/>
                  </a:ext>
                </a:extLst>
              </a:tr>
              <a:tr h="678650">
                <a:tc>
                  <a:txBody>
                    <a:bodyPr/>
                    <a:lstStyle/>
                    <a:p>
                      <a:pPr marL="0" marR="0" lvl="0" indent="0" algn="l" rtl="0">
                        <a:spcBef>
                          <a:spcPts val="0"/>
                        </a:spcBef>
                        <a:spcAft>
                          <a:spcPts val="0"/>
                        </a:spcAft>
                        <a:buNone/>
                      </a:pPr>
                      <a:r>
                        <a:rPr lang="en-US" sz="1200" b="0" i="0" u="none" strike="noStrike" cap="none">
                          <a:solidFill>
                            <a:srgbClr val="1A1A1A"/>
                          </a:solidFill>
                          <a:latin typeface="Lato"/>
                          <a:ea typeface="Lato"/>
                          <a:cs typeface="Lato"/>
                          <a:sym typeface="Lato"/>
                        </a:rPr>
                        <a:t>目的変数 (Y5)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1A1A1A"/>
                          </a:solidFill>
                          <a:latin typeface="Lato"/>
                          <a:ea typeface="Lato"/>
                          <a:cs typeface="Lato"/>
                          <a:sym typeface="Lato"/>
                        </a:rPr>
                        <a:t>ユーティリティコスト</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err="1">
                          <a:solidFill>
                            <a:srgbClr val="1A1A1A"/>
                          </a:solidFill>
                          <a:latin typeface="Lato"/>
                          <a:ea typeface="Lato"/>
                          <a:cs typeface="Lato"/>
                          <a:sym typeface="Lato"/>
                        </a:rPr>
                        <a:t>指数関数的・二乗的に増加</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01" name="Google Shape;101;p14"/>
          <p:cNvSpPr/>
          <p:nvPr/>
        </p:nvSpPr>
        <p:spPr>
          <a:xfrm>
            <a:off x="571500" y="3879502"/>
            <a:ext cx="1421606"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 name="Google Shape;102;p14"/>
          <p:cNvSpPr/>
          <p:nvPr/>
        </p:nvSpPr>
        <p:spPr>
          <a:xfrm>
            <a:off x="1993106" y="3879502"/>
            <a:ext cx="1690687"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 name="Google Shape;103;p14"/>
          <p:cNvSpPr/>
          <p:nvPr/>
        </p:nvSpPr>
        <p:spPr>
          <a:xfrm>
            <a:off x="3683793" y="3879502"/>
            <a:ext cx="2221706"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 name="Google Shape;104;p14"/>
          <p:cNvSpPr/>
          <p:nvPr/>
        </p:nvSpPr>
        <p:spPr>
          <a:xfrm>
            <a:off x="571500" y="4536727"/>
            <a:ext cx="1421606"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 name="Google Shape;105;p14"/>
          <p:cNvSpPr/>
          <p:nvPr/>
        </p:nvSpPr>
        <p:spPr>
          <a:xfrm>
            <a:off x="1993106" y="4536727"/>
            <a:ext cx="1690687"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4"/>
          <p:cNvSpPr/>
          <p:nvPr/>
        </p:nvSpPr>
        <p:spPr>
          <a:xfrm>
            <a:off x="3683793" y="4536727"/>
            <a:ext cx="2221706"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 name="Google Shape;107;p14"/>
          <p:cNvSpPr/>
          <p:nvPr/>
        </p:nvSpPr>
        <p:spPr>
          <a:xfrm>
            <a:off x="571500" y="5193952"/>
            <a:ext cx="1421606"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 name="Google Shape;108;p14"/>
          <p:cNvSpPr/>
          <p:nvPr/>
        </p:nvSpPr>
        <p:spPr>
          <a:xfrm>
            <a:off x="1993106" y="5193952"/>
            <a:ext cx="1690687"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9" name="Google Shape;109;p14"/>
          <p:cNvSpPr/>
          <p:nvPr/>
        </p:nvSpPr>
        <p:spPr>
          <a:xfrm>
            <a:off x="3683793" y="5193952"/>
            <a:ext cx="2221706"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図 1">
            <a:extLst>
              <a:ext uri="{FF2B5EF4-FFF2-40B4-BE49-F238E27FC236}">
                <a16:creationId xmlns:a16="http://schemas.microsoft.com/office/drawing/2014/main" id="{0362A51C-2BB2-DC92-DF62-405B5FC0C6D7}"/>
              </a:ext>
            </a:extLst>
          </p:cNvPr>
          <p:cNvPicPr>
            <a:picLocks noChangeAspect="1"/>
          </p:cNvPicPr>
          <p:nvPr/>
        </p:nvPicPr>
        <p:blipFill rotWithShape="1">
          <a:blip r:embed="rId4"/>
          <a:srcRect t="7885"/>
          <a:stretch/>
        </p:blipFill>
        <p:spPr>
          <a:xfrm>
            <a:off x="6400280" y="1839776"/>
            <a:ext cx="4813589" cy="3603303"/>
          </a:xfrm>
          <a:prstGeom prst="rect">
            <a:avLst/>
          </a:prstGeom>
        </p:spPr>
      </p:pic>
      <p:sp>
        <p:nvSpPr>
          <p:cNvPr id="4" name="テキスト ボックス 3">
            <a:extLst>
              <a:ext uri="{FF2B5EF4-FFF2-40B4-BE49-F238E27FC236}">
                <a16:creationId xmlns:a16="http://schemas.microsoft.com/office/drawing/2014/main" id="{BD73DDA6-27AE-2DAD-C469-4838064AE811}"/>
              </a:ext>
            </a:extLst>
          </p:cNvPr>
          <p:cNvSpPr txBox="1"/>
          <p:nvPr/>
        </p:nvSpPr>
        <p:spPr>
          <a:xfrm>
            <a:off x="423603" y="2512211"/>
            <a:ext cx="5368118" cy="954107"/>
          </a:xfrm>
          <a:prstGeom prst="rect">
            <a:avLst/>
          </a:prstGeom>
          <a:noFill/>
        </p:spPr>
        <p:txBody>
          <a:bodyPr wrap="square">
            <a:spAutoFit/>
          </a:bodyPr>
          <a:lstStyle/>
          <a:p>
            <a:r>
              <a:rPr lang="ja-JP" altLang="en-US" b="1"/>
              <a:t>課題</a:t>
            </a:r>
            <a:r>
              <a:rPr lang="en-US" altLang="ja-JP" b="1" dirty="0"/>
              <a:t>:</a:t>
            </a:r>
            <a:r>
              <a:rPr lang="ja-JP" altLang="en-US"/>
              <a:t> </a:t>
            </a:r>
            <a:endParaRPr lang="en-US" altLang="ja-JP" dirty="0"/>
          </a:p>
          <a:p>
            <a:r>
              <a:rPr lang="ja-JP" altLang="en-US"/>
              <a:t>転化率を上げようとすると温度や流量を増やす必要があり、</a:t>
            </a:r>
            <a:endParaRPr lang="en-US" altLang="ja-JP" dirty="0"/>
          </a:p>
          <a:p>
            <a:r>
              <a:rPr lang="ja-JP" altLang="en-US"/>
              <a:t>コストも上昇するという</a:t>
            </a:r>
            <a:r>
              <a:rPr lang="ja-JP" altLang="en-US" b="1"/>
              <a:t>トレードオフ関係</a:t>
            </a:r>
            <a:r>
              <a:rPr lang="ja-JP" altLang="en-US"/>
              <a:t>が存在します。</a:t>
            </a:r>
            <a:endParaRPr lang="en-US" altLang="ja-JP" dirty="0"/>
          </a:p>
          <a:p>
            <a:r>
              <a:rPr lang="ja-JP" altLang="en-US"/>
              <a:t>このパレート面をいかに効率よく探索する。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3"/>
        <p:cNvGrpSpPr/>
        <p:nvPr/>
      </p:nvGrpSpPr>
      <p:grpSpPr>
        <a:xfrm>
          <a:off x="0" y="0"/>
          <a:ext cx="0" cy="0"/>
          <a:chOff x="0" y="0"/>
          <a:chExt cx="0" cy="0"/>
        </a:xfrm>
      </p:grpSpPr>
      <p:pic>
        <p:nvPicPr>
          <p:cNvPr id="115" name="Google Shape;115;p15" descr="image.png"/>
          <p:cNvPicPr preferRelativeResize="0"/>
          <p:nvPr/>
        </p:nvPicPr>
        <p:blipFill rotWithShape="1">
          <a:blip r:embed="rId3">
            <a:alphaModFix/>
          </a:blip>
          <a:srcRect/>
          <a:stretch/>
        </p:blipFill>
        <p:spPr>
          <a:xfrm>
            <a:off x="571500" y="3205742"/>
            <a:ext cx="3492549" cy="3040260"/>
          </a:xfrm>
          <a:prstGeom prst="rect">
            <a:avLst/>
          </a:prstGeom>
          <a:noFill/>
          <a:ln>
            <a:noFill/>
          </a:ln>
        </p:spPr>
      </p:pic>
      <p:pic>
        <p:nvPicPr>
          <p:cNvPr id="116" name="Google Shape;116;p15" descr="image.png"/>
          <p:cNvPicPr preferRelativeResize="0"/>
          <p:nvPr/>
        </p:nvPicPr>
        <p:blipFill rotWithShape="1">
          <a:blip r:embed="rId4">
            <a:alphaModFix/>
          </a:blip>
          <a:srcRect/>
          <a:stretch/>
        </p:blipFill>
        <p:spPr>
          <a:xfrm>
            <a:off x="4349799" y="3205742"/>
            <a:ext cx="3492549" cy="3040260"/>
          </a:xfrm>
          <a:prstGeom prst="rect">
            <a:avLst/>
          </a:prstGeom>
          <a:noFill/>
          <a:ln>
            <a:noFill/>
          </a:ln>
        </p:spPr>
      </p:pic>
      <p:pic>
        <p:nvPicPr>
          <p:cNvPr id="117" name="Google Shape;117;p15" descr="image.png"/>
          <p:cNvPicPr preferRelativeResize="0"/>
          <p:nvPr/>
        </p:nvPicPr>
        <p:blipFill rotWithShape="1">
          <a:blip r:embed="rId5">
            <a:alphaModFix/>
          </a:blip>
          <a:srcRect/>
          <a:stretch/>
        </p:blipFill>
        <p:spPr>
          <a:xfrm>
            <a:off x="8128099" y="3205742"/>
            <a:ext cx="3206651" cy="3040260"/>
          </a:xfrm>
          <a:prstGeom prst="rect">
            <a:avLst/>
          </a:prstGeom>
          <a:noFill/>
          <a:ln>
            <a:noFill/>
          </a:ln>
        </p:spPr>
      </p:pic>
      <p:sp>
        <p:nvSpPr>
          <p:cNvPr id="118" name="Google Shape;118;p15"/>
          <p:cNvSpPr txBox="1"/>
          <p:nvPr/>
        </p:nvSpPr>
        <p:spPr>
          <a:xfrm>
            <a:off x="762000" y="571500"/>
            <a:ext cx="11401425"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err="1">
                <a:solidFill>
                  <a:srgbClr val="001F3F"/>
                </a:solidFill>
                <a:latin typeface="Poppins"/>
                <a:ea typeface="Poppins"/>
                <a:cs typeface="Poppins"/>
                <a:sym typeface="Poppins"/>
              </a:rPr>
              <a:t>多目的ベイズ最適化</a:t>
            </a:r>
            <a:endParaRPr dirty="0"/>
          </a:p>
        </p:txBody>
      </p:sp>
      <p:sp>
        <p:nvSpPr>
          <p:cNvPr id="119" name="Google Shape;119;p15"/>
          <p:cNvSpPr/>
          <p:nvPr/>
        </p:nvSpPr>
        <p:spPr>
          <a:xfrm>
            <a:off x="571500" y="571500"/>
            <a:ext cx="76200" cy="6000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 name="Google Shape;120;p15"/>
          <p:cNvSpPr txBox="1"/>
          <p:nvPr/>
        </p:nvSpPr>
        <p:spPr>
          <a:xfrm>
            <a:off x="857250" y="4186817"/>
            <a:ext cx="3067102"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1F3F"/>
                </a:solidFill>
                <a:latin typeface="Poppins"/>
                <a:ea typeface="Poppins"/>
                <a:cs typeface="Poppins"/>
                <a:sym typeface="Poppins"/>
              </a:rPr>
              <a:t>多目的PIの統合</a:t>
            </a:r>
            <a:endParaRPr/>
          </a:p>
        </p:txBody>
      </p:sp>
      <p:sp>
        <p:nvSpPr>
          <p:cNvPr id="121" name="Google Shape;121;p15"/>
          <p:cNvSpPr txBox="1"/>
          <p:nvPr/>
        </p:nvSpPr>
        <p:spPr>
          <a:xfrm>
            <a:off x="857250" y="4691642"/>
            <a:ext cx="2921049"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err="1">
                <a:solidFill>
                  <a:srgbClr val="4A4A4A"/>
                </a:solidFill>
                <a:latin typeface="Lato"/>
                <a:ea typeface="Lato"/>
                <a:cs typeface="Lato"/>
                <a:sym typeface="Lato"/>
              </a:rPr>
              <a:t>各Yに対して「目標を上回る確率</a:t>
            </a:r>
            <a:r>
              <a:rPr lang="en-US" sz="1350" b="0" i="0" u="none" strike="noStrike" cap="none" dirty="0">
                <a:solidFill>
                  <a:srgbClr val="4A4A4A"/>
                </a:solidFill>
                <a:latin typeface="Lato"/>
                <a:ea typeface="Lato"/>
                <a:cs typeface="Lato"/>
                <a:sym typeface="Lato"/>
              </a:rPr>
              <a:t>(PI)」</a:t>
            </a:r>
            <a:r>
              <a:rPr lang="en-US" sz="1350" b="0" i="0" u="none" strike="noStrike" cap="none" dirty="0" err="1">
                <a:solidFill>
                  <a:srgbClr val="4A4A4A"/>
                </a:solidFill>
                <a:latin typeface="Lato"/>
                <a:ea typeface="Lato"/>
                <a:cs typeface="Lato"/>
                <a:sym typeface="Lato"/>
              </a:rPr>
              <a:t>を計算。対数和をとることで「全目標同時達成確率」を一元的な獲得関数として統合</a:t>
            </a:r>
            <a:r>
              <a:rPr lang="en-US" sz="1350" b="0" i="0" u="none" strike="noStrike" cap="none" dirty="0">
                <a:solidFill>
                  <a:srgbClr val="4A4A4A"/>
                </a:solidFill>
                <a:latin typeface="Lato"/>
                <a:ea typeface="Lato"/>
                <a:cs typeface="Lato"/>
                <a:sym typeface="Lato"/>
              </a:rPr>
              <a:t>。</a:t>
            </a:r>
            <a:endParaRPr dirty="0"/>
          </a:p>
        </p:txBody>
      </p:sp>
      <p:sp>
        <p:nvSpPr>
          <p:cNvPr id="122" name="Google Shape;122;p15"/>
          <p:cNvSpPr txBox="1"/>
          <p:nvPr/>
        </p:nvSpPr>
        <p:spPr>
          <a:xfrm>
            <a:off x="4635549" y="4186817"/>
            <a:ext cx="3067102"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1F3F"/>
                </a:solidFill>
                <a:latin typeface="Poppins"/>
                <a:ea typeface="Poppins"/>
                <a:cs typeface="Poppins"/>
                <a:sym typeface="Poppins"/>
              </a:rPr>
              <a:t>Y間の相関の扱い</a:t>
            </a:r>
            <a:endParaRPr/>
          </a:p>
        </p:txBody>
      </p:sp>
      <p:sp>
        <p:nvSpPr>
          <p:cNvPr id="123" name="Google Shape;123;p15"/>
          <p:cNvSpPr txBox="1"/>
          <p:nvPr/>
        </p:nvSpPr>
        <p:spPr>
          <a:xfrm>
            <a:off x="4635549" y="4691642"/>
            <a:ext cx="2921049"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A4A4A"/>
                </a:solidFill>
                <a:latin typeface="Lato"/>
                <a:ea typeface="Lato"/>
                <a:cs typeface="Lato"/>
                <a:sym typeface="Lato"/>
              </a:rPr>
              <a:t>未知の外挿領域での相関維持は保証されないため、各Yに対して独立にガウス過程(GP)モデルを構築し探索を行う。</a:t>
            </a:r>
            <a:endParaRPr/>
          </a:p>
        </p:txBody>
      </p:sp>
      <p:sp>
        <p:nvSpPr>
          <p:cNvPr id="124" name="Google Shape;124;p15"/>
          <p:cNvSpPr txBox="1"/>
          <p:nvPr/>
        </p:nvSpPr>
        <p:spPr>
          <a:xfrm>
            <a:off x="8413849" y="4186817"/>
            <a:ext cx="3067102"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1F3F"/>
                </a:solidFill>
                <a:latin typeface="Poppins"/>
                <a:ea typeface="Poppins"/>
                <a:cs typeface="Poppins"/>
                <a:sym typeface="Poppins"/>
              </a:rPr>
              <a:t>獲得関数の標準化</a:t>
            </a:r>
            <a:endParaRPr/>
          </a:p>
        </p:txBody>
      </p:sp>
      <p:sp>
        <p:nvSpPr>
          <p:cNvPr id="125" name="Google Shape;125;p15"/>
          <p:cNvSpPr txBox="1"/>
          <p:nvPr/>
        </p:nvSpPr>
        <p:spPr>
          <a:xfrm>
            <a:off x="8413849" y="4691642"/>
            <a:ext cx="2921049" cy="13295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err="1">
                <a:solidFill>
                  <a:srgbClr val="4A4A4A"/>
                </a:solidFill>
                <a:latin typeface="Lato"/>
                <a:ea typeface="Lato"/>
                <a:cs typeface="Lato"/>
                <a:sym typeface="Lato"/>
              </a:rPr>
              <a:t>スケーリングが異なるEI等を統合する場合、平均・標準偏差によるオートスケーリングを行い指標を均一化して</a:t>
            </a:r>
            <a:endParaRPr lang="en-US" sz="1350" b="0" i="0" u="none" strike="noStrike" cap="none" dirty="0">
              <a:solidFill>
                <a:srgbClr val="4A4A4A"/>
              </a:solidFill>
              <a:latin typeface="Lato"/>
              <a:ea typeface="Lato"/>
              <a:cs typeface="Lato"/>
              <a:sym typeface="Lato"/>
            </a:endParaRPr>
          </a:p>
          <a:p>
            <a:pPr marL="0" marR="0" lvl="0" indent="0" algn="l" rtl="0">
              <a:lnSpc>
                <a:spcPct val="160000"/>
              </a:lnSpc>
              <a:spcBef>
                <a:spcPts val="0"/>
              </a:spcBef>
              <a:spcAft>
                <a:spcPts val="0"/>
              </a:spcAft>
              <a:buNone/>
            </a:pPr>
            <a:r>
              <a:rPr lang="en-US" sz="1350" b="0" i="0" u="none" strike="noStrike" cap="none" dirty="0" err="1">
                <a:solidFill>
                  <a:srgbClr val="4A4A4A"/>
                </a:solidFill>
                <a:latin typeface="Lato"/>
                <a:ea typeface="Lato"/>
                <a:cs typeface="Lato"/>
                <a:sym typeface="Lato"/>
              </a:rPr>
              <a:t>評価</a:t>
            </a:r>
            <a:r>
              <a:rPr lang="en-US" sz="1350" b="0" i="0" u="none" strike="noStrike" cap="none" dirty="0">
                <a:solidFill>
                  <a:srgbClr val="4A4A4A"/>
                </a:solidFill>
                <a:latin typeface="Lato"/>
                <a:ea typeface="Lato"/>
                <a:cs typeface="Lato"/>
                <a:sym typeface="Lato"/>
              </a:rPr>
              <a:t>。</a:t>
            </a:r>
            <a:endParaRPr dirty="0"/>
          </a:p>
        </p:txBody>
      </p:sp>
      <p:pic>
        <p:nvPicPr>
          <p:cNvPr id="126" name="Google Shape;126;p15" descr="image.png"/>
          <p:cNvPicPr preferRelativeResize="0"/>
          <p:nvPr/>
        </p:nvPicPr>
        <p:blipFill rotWithShape="1">
          <a:blip r:embed="rId6">
            <a:alphaModFix/>
          </a:blip>
          <a:srcRect/>
          <a:stretch/>
        </p:blipFill>
        <p:spPr>
          <a:xfrm>
            <a:off x="857250" y="3577217"/>
            <a:ext cx="285750" cy="381000"/>
          </a:xfrm>
          <a:prstGeom prst="rect">
            <a:avLst/>
          </a:prstGeom>
          <a:noFill/>
          <a:ln>
            <a:noFill/>
          </a:ln>
        </p:spPr>
      </p:pic>
      <p:pic>
        <p:nvPicPr>
          <p:cNvPr id="127" name="Google Shape;127;p15" descr="image.png"/>
          <p:cNvPicPr preferRelativeResize="0"/>
          <p:nvPr/>
        </p:nvPicPr>
        <p:blipFill rotWithShape="1">
          <a:blip r:embed="rId7">
            <a:alphaModFix/>
          </a:blip>
          <a:srcRect/>
          <a:stretch/>
        </p:blipFill>
        <p:spPr>
          <a:xfrm>
            <a:off x="4635549" y="3577217"/>
            <a:ext cx="476250" cy="381000"/>
          </a:xfrm>
          <a:prstGeom prst="rect">
            <a:avLst/>
          </a:prstGeom>
          <a:noFill/>
          <a:ln>
            <a:noFill/>
          </a:ln>
        </p:spPr>
      </p:pic>
      <p:pic>
        <p:nvPicPr>
          <p:cNvPr id="128" name="Google Shape;128;p15" descr="image.png"/>
          <p:cNvPicPr preferRelativeResize="0"/>
          <p:nvPr/>
        </p:nvPicPr>
        <p:blipFill rotWithShape="1">
          <a:blip r:embed="rId8">
            <a:alphaModFix/>
          </a:blip>
          <a:srcRect/>
          <a:stretch/>
        </p:blipFill>
        <p:spPr>
          <a:xfrm>
            <a:off x="8413849" y="3577217"/>
            <a:ext cx="476250" cy="381000"/>
          </a:xfrm>
          <a:prstGeom prst="rect">
            <a:avLst/>
          </a:prstGeom>
          <a:noFill/>
          <a:ln>
            <a:noFill/>
          </a:ln>
        </p:spPr>
      </p:pic>
      <p:sp>
        <p:nvSpPr>
          <p:cNvPr id="3" name="テキスト ボックス 2">
            <a:extLst>
              <a:ext uri="{FF2B5EF4-FFF2-40B4-BE49-F238E27FC236}">
                <a16:creationId xmlns:a16="http://schemas.microsoft.com/office/drawing/2014/main" id="{20813ACF-5047-320D-B637-EB5F9AE28DBE}"/>
              </a:ext>
            </a:extLst>
          </p:cNvPr>
          <p:cNvSpPr txBox="1"/>
          <p:nvPr/>
        </p:nvSpPr>
        <p:spPr>
          <a:xfrm>
            <a:off x="1000125" y="1269377"/>
            <a:ext cx="8033664" cy="1600438"/>
          </a:xfrm>
          <a:prstGeom prst="rect">
            <a:avLst/>
          </a:prstGeom>
          <a:noFill/>
        </p:spPr>
        <p:txBody>
          <a:bodyPr wrap="square">
            <a:spAutoFit/>
          </a:bodyPr>
          <a:lstStyle/>
          <a:p>
            <a:pPr>
              <a:buFont typeface="Arial" panose="020B0604020202020204" pitchFamily="34" charset="0"/>
              <a:buChar char="•"/>
            </a:pPr>
            <a:r>
              <a:rPr lang="ja-JP" altLang="en-US" b="1">
                <a:effectLst/>
                <a:latin typeface="Google Sans Text"/>
              </a:rPr>
              <a:t>論理</a:t>
            </a:r>
            <a:r>
              <a:rPr lang="en-US" altLang="ja-JP" b="1" dirty="0">
                <a:effectLst/>
                <a:latin typeface="Google Sans Text"/>
              </a:rPr>
              <a:t>:</a:t>
            </a:r>
            <a:endParaRPr lang="ja-JP" altLang="en-US">
              <a:effectLst/>
              <a:latin typeface="Google Sans Text"/>
            </a:endParaRPr>
          </a:p>
          <a:p>
            <a:pPr marL="742950" lvl="1" indent="-285750">
              <a:buFont typeface="Arial" panose="020B0604020202020204" pitchFamily="34" charset="0"/>
              <a:buChar char="•"/>
            </a:pPr>
            <a:r>
              <a:rPr lang="ja-JP" altLang="en-US">
                <a:effectLst/>
                <a:latin typeface="Google Sans Text"/>
              </a:rPr>
              <a:t>現在のデータで </a:t>
            </a:r>
            <a:r>
              <a:rPr lang="en" altLang="ja-JP" dirty="0">
                <a:effectLst/>
                <a:latin typeface="Google Sans Text"/>
              </a:rPr>
              <a:t>X</a:t>
            </a:r>
            <a:r>
              <a:rPr lang="ja-JP" altLang="en-US">
                <a:effectLst/>
                <a:latin typeface="Google Sans Text"/>
              </a:rPr>
              <a:t>から </a:t>
            </a:r>
            <a:r>
              <a:rPr lang="en" altLang="ja-JP" dirty="0">
                <a:effectLst/>
                <a:latin typeface="Google Sans Text"/>
              </a:rPr>
              <a:t>Y </a:t>
            </a:r>
            <a:r>
              <a:rPr lang="ja-JP" altLang="en-US">
                <a:effectLst/>
                <a:latin typeface="Google Sans Text"/>
              </a:rPr>
              <a:t>を予測するモデル（</a:t>
            </a:r>
            <a:r>
              <a:rPr lang="en" altLang="ja-JP" dirty="0">
                <a:effectLst/>
                <a:latin typeface="Google Sans Text"/>
              </a:rPr>
              <a:t>GPR</a:t>
            </a:r>
            <a:r>
              <a:rPr lang="ja-JP" altLang="en">
                <a:effectLst/>
                <a:latin typeface="Google Sans Text"/>
              </a:rPr>
              <a:t>）</a:t>
            </a:r>
            <a:r>
              <a:rPr lang="ja-JP" altLang="en-US">
                <a:effectLst/>
                <a:latin typeface="Google Sans Text"/>
              </a:rPr>
              <a:t>を構築。</a:t>
            </a:r>
          </a:p>
          <a:p>
            <a:pPr marL="742950" lvl="1" indent="-285750">
              <a:buFont typeface="Arial" panose="020B0604020202020204" pitchFamily="34" charset="0"/>
              <a:buChar char="•"/>
            </a:pPr>
            <a:r>
              <a:rPr lang="ja-JP" altLang="en-US">
                <a:effectLst/>
                <a:latin typeface="Google Sans Text"/>
              </a:rPr>
              <a:t>予測値だけでなく「不確かさ（標準偏差）」を算出。</a:t>
            </a:r>
          </a:p>
          <a:p>
            <a:pPr marL="742950" lvl="1" indent="-285750">
              <a:buFont typeface="Arial" panose="020B0604020202020204" pitchFamily="34" charset="0"/>
              <a:buChar char="•"/>
            </a:pPr>
            <a:r>
              <a:rPr lang="ja-JP" altLang="en-US" b="1">
                <a:effectLst/>
                <a:latin typeface="Google Sans Text"/>
              </a:rPr>
              <a:t>獲得関数</a:t>
            </a:r>
            <a:r>
              <a:rPr lang="en-US" altLang="ja-JP" b="1" dirty="0">
                <a:effectLst/>
                <a:latin typeface="Google Sans Text"/>
              </a:rPr>
              <a:t>:</a:t>
            </a:r>
            <a:r>
              <a:rPr lang="ja-JP" altLang="en-US">
                <a:effectLst/>
                <a:latin typeface="Google Sans Text"/>
              </a:rPr>
              <a:t> 「まだ調べていないが、良くなる可能性がある場所」をスコア化。</a:t>
            </a:r>
          </a:p>
          <a:p>
            <a:pPr marL="742950" lvl="1" indent="-285750">
              <a:buFont typeface="Arial" panose="020B0604020202020204" pitchFamily="34" charset="0"/>
              <a:buChar char="•"/>
            </a:pPr>
            <a:r>
              <a:rPr lang="ja-JP" altLang="en-US">
                <a:effectLst/>
                <a:latin typeface="Google Sans Text"/>
              </a:rPr>
              <a:t>スコア最大の点を次の実験候補とする。</a:t>
            </a:r>
          </a:p>
          <a:p>
            <a:pPr>
              <a:buFont typeface="Arial" panose="020B0604020202020204" pitchFamily="34" charset="0"/>
              <a:buChar char="•"/>
            </a:pPr>
            <a:r>
              <a:rPr lang="ja-JP" altLang="en-US" b="1">
                <a:effectLst/>
                <a:latin typeface="Google Sans Text"/>
              </a:rPr>
              <a:t>メリット</a:t>
            </a:r>
            <a:r>
              <a:rPr lang="en-US" altLang="ja-JP" b="1" dirty="0">
                <a:effectLst/>
                <a:latin typeface="Google Sans Text"/>
              </a:rPr>
              <a:t>:</a:t>
            </a:r>
            <a:r>
              <a:rPr lang="ja-JP" altLang="en-US">
                <a:effectLst/>
                <a:latin typeface="Google Sans Text"/>
              </a:rPr>
              <a:t> 局所解に陥りにくく、未知の好条件を見つける能力が高い。</a:t>
            </a:r>
          </a:p>
          <a:p>
            <a:pPr>
              <a:buFont typeface="Arial" panose="020B0604020202020204" pitchFamily="34" charset="0"/>
              <a:buChar char="•"/>
            </a:pPr>
            <a:r>
              <a:rPr lang="ja-JP" altLang="en-US" b="1">
                <a:effectLst/>
                <a:latin typeface="Google Sans Text"/>
              </a:rPr>
              <a:t>デメリット</a:t>
            </a:r>
            <a:r>
              <a:rPr lang="en-US" altLang="ja-JP" b="1" dirty="0">
                <a:effectLst/>
                <a:latin typeface="Google Sans Text"/>
              </a:rPr>
              <a:t>:</a:t>
            </a:r>
            <a:r>
              <a:rPr lang="ja-JP" altLang="en-US">
                <a:effectLst/>
                <a:latin typeface="Google Sans Text"/>
              </a:rPr>
              <a:t> 変数が増えると探索空間が広大になり、収束に時間がかかる場合がある。</a:t>
            </a:r>
            <a:endParaRPr lang="en-US" altLang="ja-JP" dirty="0">
              <a:effectLst/>
              <a:latin typeface="Google Sans Tex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2"/>
        <p:cNvGrpSpPr/>
        <p:nvPr/>
      </p:nvGrpSpPr>
      <p:grpSpPr>
        <a:xfrm>
          <a:off x="0" y="0"/>
          <a:ext cx="0" cy="0"/>
          <a:chOff x="0" y="0"/>
          <a:chExt cx="0" cy="0"/>
        </a:xfrm>
      </p:grpSpPr>
      <p:pic>
        <p:nvPicPr>
          <p:cNvPr id="134" name="Google Shape;134;p16" descr="image.png"/>
          <p:cNvPicPr preferRelativeResize="0"/>
          <p:nvPr/>
        </p:nvPicPr>
        <p:blipFill rotWithShape="1">
          <a:blip r:embed="rId3">
            <a:alphaModFix/>
          </a:blip>
          <a:srcRect/>
          <a:stretch/>
        </p:blipFill>
        <p:spPr>
          <a:xfrm>
            <a:off x="571500" y="5119079"/>
            <a:ext cx="5334000" cy="723900"/>
          </a:xfrm>
          <a:prstGeom prst="rect">
            <a:avLst/>
          </a:prstGeom>
          <a:noFill/>
          <a:ln>
            <a:noFill/>
          </a:ln>
        </p:spPr>
      </p:pic>
      <p:pic>
        <p:nvPicPr>
          <p:cNvPr id="135" name="Google Shape;135;p16" descr="image.png"/>
          <p:cNvPicPr preferRelativeResize="0"/>
          <p:nvPr/>
        </p:nvPicPr>
        <p:blipFill rotWithShape="1">
          <a:blip r:embed="rId4">
            <a:alphaModFix/>
          </a:blip>
          <a:srcRect/>
          <a:stretch/>
        </p:blipFill>
        <p:spPr>
          <a:xfrm>
            <a:off x="6286500" y="2014537"/>
            <a:ext cx="5334000" cy="3810000"/>
          </a:xfrm>
          <a:prstGeom prst="rect">
            <a:avLst/>
          </a:prstGeom>
          <a:noFill/>
          <a:ln>
            <a:noFill/>
          </a:ln>
        </p:spPr>
      </p:pic>
      <p:sp>
        <p:nvSpPr>
          <p:cNvPr id="136" name="Google Shape;136;p16"/>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1F3F"/>
                </a:solidFill>
                <a:latin typeface="Poppins"/>
                <a:ea typeface="Poppins"/>
                <a:cs typeface="Poppins"/>
                <a:sym typeface="Poppins"/>
              </a:rPr>
              <a:t>GMRによる直接的逆解析アプローチ</a:t>
            </a:r>
            <a:endParaRPr/>
          </a:p>
        </p:txBody>
      </p:sp>
      <p:sp>
        <p:nvSpPr>
          <p:cNvPr id="137" name="Google Shape;137;p16"/>
          <p:cNvSpPr/>
          <p:nvPr/>
        </p:nvSpPr>
        <p:spPr>
          <a:xfrm>
            <a:off x="571500" y="571500"/>
            <a:ext cx="76200" cy="6000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 name="Google Shape;138;p16"/>
          <p:cNvSpPr txBox="1"/>
          <p:nvPr/>
        </p:nvSpPr>
        <p:spPr>
          <a:xfrm>
            <a:off x="571500" y="3677083"/>
            <a:ext cx="560070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01F3F"/>
                </a:solidFill>
                <a:latin typeface="Poppins"/>
                <a:ea typeface="Poppins"/>
                <a:cs typeface="Poppins"/>
                <a:sym typeface="Poppins"/>
              </a:rPr>
              <a:t>設計思想の転換：予測から設計へ</a:t>
            </a:r>
            <a:endParaRPr/>
          </a:p>
        </p:txBody>
      </p:sp>
      <p:sp>
        <p:nvSpPr>
          <p:cNvPr id="139" name="Google Shape;139;p16"/>
          <p:cNvSpPr txBox="1"/>
          <p:nvPr/>
        </p:nvSpPr>
        <p:spPr>
          <a:xfrm>
            <a:off x="571500" y="4124758"/>
            <a:ext cx="533400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err="1">
                <a:solidFill>
                  <a:srgbClr val="4A4A4A"/>
                </a:solidFill>
                <a:latin typeface="Lato"/>
                <a:ea typeface="Lato"/>
                <a:cs typeface="Lato"/>
                <a:sym typeface="Lato"/>
              </a:rPr>
              <a:t>ガウス混合モデル</a:t>
            </a:r>
            <a:r>
              <a:rPr lang="en-US" sz="1350" b="0" i="0" u="none" strike="noStrike" cap="none" dirty="0">
                <a:solidFill>
                  <a:srgbClr val="4A4A4A"/>
                </a:solidFill>
                <a:latin typeface="Lato"/>
                <a:ea typeface="Lato"/>
                <a:cs typeface="Lato"/>
                <a:sym typeface="Lato"/>
              </a:rPr>
              <a:t>(GMM)</a:t>
            </a:r>
            <a:r>
              <a:rPr lang="en-US" sz="1350" b="0" i="0" u="none" strike="noStrike" cap="none" dirty="0" err="1">
                <a:solidFill>
                  <a:srgbClr val="4A4A4A"/>
                </a:solidFill>
                <a:latin typeface="Lato"/>
                <a:ea typeface="Lato"/>
                <a:cs typeface="Lato"/>
                <a:sym typeface="Lato"/>
              </a:rPr>
              <a:t>を用いて、XとYの同時確率分布</a:t>
            </a:r>
            <a:r>
              <a:rPr lang="en-US" sz="1350" b="0" i="0" u="none" strike="noStrike" cap="none" dirty="0">
                <a:solidFill>
                  <a:srgbClr val="4A4A4A"/>
                </a:solidFill>
                <a:latin typeface="Lato"/>
                <a:ea typeface="Lato"/>
                <a:cs typeface="Lato"/>
                <a:sym typeface="Lato"/>
              </a:rPr>
              <a:t> $P(X, Y)$ </a:t>
            </a:r>
            <a:r>
              <a:rPr lang="en-US" sz="1350" b="0" i="0" u="none" strike="noStrike" cap="none" dirty="0" err="1">
                <a:solidFill>
                  <a:srgbClr val="4A4A4A"/>
                </a:solidFill>
                <a:latin typeface="Lato"/>
                <a:ea typeface="Lato"/>
                <a:cs typeface="Lato"/>
                <a:sym typeface="Lato"/>
              </a:rPr>
              <a:t>をモデル化。理想とする目標性能</a:t>
            </a:r>
            <a:r>
              <a:rPr lang="en-US" sz="1350" b="0" i="0" u="none" strike="noStrike" cap="none" dirty="0">
                <a:solidFill>
                  <a:srgbClr val="4A4A4A"/>
                </a:solidFill>
                <a:latin typeface="Lato"/>
                <a:ea typeface="Lato"/>
                <a:cs typeface="Lato"/>
                <a:sym typeface="Lato"/>
              </a:rPr>
              <a:t>(Y)</a:t>
            </a:r>
            <a:r>
              <a:rPr lang="en-US" sz="1350" b="0" i="0" u="none" strike="noStrike" cap="none" dirty="0" err="1">
                <a:solidFill>
                  <a:srgbClr val="4A4A4A"/>
                </a:solidFill>
                <a:latin typeface="Lato"/>
                <a:ea typeface="Lato"/>
                <a:cs typeface="Lato"/>
                <a:sym typeface="Lato"/>
              </a:rPr>
              <a:t>を入力し、それを実現する操作条件</a:t>
            </a:r>
            <a:r>
              <a:rPr lang="en-US" sz="1350" b="0" i="0" u="none" strike="noStrike" cap="none" dirty="0">
                <a:solidFill>
                  <a:srgbClr val="4A4A4A"/>
                </a:solidFill>
                <a:latin typeface="Lato"/>
                <a:ea typeface="Lato"/>
                <a:cs typeface="Lato"/>
                <a:sym typeface="Lato"/>
              </a:rPr>
              <a:t>(X)</a:t>
            </a:r>
            <a:r>
              <a:rPr lang="en-US" sz="1350" b="0" i="0" u="none" strike="noStrike" cap="none" dirty="0" err="1">
                <a:solidFill>
                  <a:srgbClr val="4A4A4A"/>
                </a:solidFill>
                <a:latin typeface="Lato"/>
                <a:ea typeface="Lato"/>
                <a:cs typeface="Lato"/>
                <a:sym typeface="Lato"/>
              </a:rPr>
              <a:t>を逆算します</a:t>
            </a:r>
            <a:r>
              <a:rPr lang="en-US" sz="1350" b="0" i="0" u="none" strike="noStrike" cap="none" dirty="0">
                <a:solidFill>
                  <a:srgbClr val="4A4A4A"/>
                </a:solidFill>
                <a:latin typeface="Lato"/>
                <a:ea typeface="Lato"/>
                <a:cs typeface="Lato"/>
                <a:sym typeface="Lato"/>
              </a:rPr>
              <a:t>。</a:t>
            </a:r>
            <a:endParaRPr dirty="0"/>
          </a:p>
        </p:txBody>
      </p:sp>
      <p:pic>
        <p:nvPicPr>
          <p:cNvPr id="140" name="Google Shape;140;p16" descr="image.png"/>
          <p:cNvPicPr preferRelativeResize="0"/>
          <p:nvPr/>
        </p:nvPicPr>
        <p:blipFill rotWithShape="1">
          <a:blip r:embed="rId5">
            <a:alphaModFix/>
          </a:blip>
          <a:srcRect/>
          <a:stretch/>
        </p:blipFill>
        <p:spPr>
          <a:xfrm>
            <a:off x="6286500" y="3677083"/>
            <a:ext cx="1162050" cy="180975"/>
          </a:xfrm>
          <a:prstGeom prst="rect">
            <a:avLst/>
          </a:prstGeom>
          <a:noFill/>
          <a:ln>
            <a:noFill/>
          </a:ln>
        </p:spPr>
      </p:pic>
      <p:sp>
        <p:nvSpPr>
          <p:cNvPr id="4" name="テキスト ボックス 3">
            <a:extLst>
              <a:ext uri="{FF2B5EF4-FFF2-40B4-BE49-F238E27FC236}">
                <a16:creationId xmlns:a16="http://schemas.microsoft.com/office/drawing/2014/main" id="{10EDF06D-46B4-E2ED-83D8-5476758204B8}"/>
              </a:ext>
            </a:extLst>
          </p:cNvPr>
          <p:cNvSpPr txBox="1"/>
          <p:nvPr/>
        </p:nvSpPr>
        <p:spPr>
          <a:xfrm>
            <a:off x="748146" y="1411278"/>
            <a:ext cx="8622375" cy="1815882"/>
          </a:xfrm>
          <a:prstGeom prst="rect">
            <a:avLst/>
          </a:prstGeom>
          <a:noFill/>
        </p:spPr>
        <p:txBody>
          <a:bodyPr wrap="square">
            <a:spAutoFit/>
          </a:bodyPr>
          <a:lstStyle/>
          <a:p>
            <a:pPr>
              <a:buFont typeface="Arial" panose="020B0604020202020204" pitchFamily="34" charset="0"/>
              <a:buChar char="•"/>
            </a:pPr>
            <a:endParaRPr lang="ja-JP" altLang="en-US">
              <a:effectLst/>
              <a:latin typeface="Google Sans Text"/>
            </a:endParaRPr>
          </a:p>
          <a:p>
            <a:r>
              <a:rPr lang="ja-JP" altLang="en-US" b="1">
                <a:latin typeface="Google Sans"/>
              </a:rPr>
              <a:t>・</a:t>
            </a:r>
            <a:r>
              <a:rPr lang="ja-JP" altLang="en-US" b="1">
                <a:effectLst/>
                <a:latin typeface="Google Sans Text"/>
              </a:rPr>
              <a:t>論理</a:t>
            </a:r>
            <a:r>
              <a:rPr lang="en-US" altLang="ja-JP" b="1" dirty="0">
                <a:effectLst/>
                <a:latin typeface="Google Sans Text"/>
              </a:rPr>
              <a:t>:</a:t>
            </a:r>
            <a:endParaRPr lang="ja-JP" altLang="en-US">
              <a:effectLst/>
              <a:latin typeface="Google Sans Text"/>
            </a:endParaRPr>
          </a:p>
          <a:p>
            <a:pPr marL="742950" lvl="1" indent="-285750">
              <a:buFont typeface="Arial" panose="020B0604020202020204" pitchFamily="34" charset="0"/>
              <a:buChar char="•"/>
            </a:pPr>
            <a:r>
              <a:rPr lang="en" altLang="ja-JP" dirty="0">
                <a:effectLst/>
                <a:latin typeface="Google Sans Text"/>
              </a:rPr>
              <a:t>X </a:t>
            </a:r>
            <a:r>
              <a:rPr lang="ja-JP" altLang="en-US">
                <a:effectLst/>
                <a:latin typeface="Google Sans Text"/>
              </a:rPr>
              <a:t>と </a:t>
            </a:r>
            <a:r>
              <a:rPr lang="en" altLang="ja-JP" dirty="0">
                <a:effectLst/>
                <a:latin typeface="Google Sans Text"/>
              </a:rPr>
              <a:t>Y </a:t>
            </a:r>
            <a:r>
              <a:rPr lang="ja-JP" altLang="en-US">
                <a:effectLst/>
                <a:latin typeface="Google Sans Text"/>
              </a:rPr>
              <a:t>をすべて含めた</a:t>
            </a:r>
            <a:r>
              <a:rPr lang="ja-JP" altLang="en-US" b="1">
                <a:effectLst/>
                <a:latin typeface="Google Sans Text"/>
              </a:rPr>
              <a:t>同時確率分布</a:t>
            </a:r>
            <a:r>
              <a:rPr lang="ja-JP" altLang="en-US">
                <a:effectLst/>
                <a:latin typeface="Google Sans Text"/>
              </a:rPr>
              <a:t> </a:t>
            </a:r>
            <a:r>
              <a:rPr lang="en" altLang="ja-JP" dirty="0">
                <a:effectLst/>
                <a:latin typeface="Google Sans Text"/>
              </a:rPr>
              <a:t>P(X, Y) </a:t>
            </a:r>
            <a:r>
              <a:rPr lang="ja-JP" altLang="en-US">
                <a:effectLst/>
                <a:latin typeface="Google Sans Text"/>
              </a:rPr>
              <a:t>をモデル化。</a:t>
            </a:r>
          </a:p>
          <a:p>
            <a:pPr marL="742950" lvl="1" indent="-285750">
              <a:buFont typeface="Arial" panose="020B0604020202020204" pitchFamily="34" charset="0"/>
              <a:buChar char="•"/>
            </a:pPr>
            <a:r>
              <a:rPr lang="ja-JP" altLang="en-US">
                <a:effectLst/>
                <a:latin typeface="Google Sans Text"/>
              </a:rPr>
              <a:t>「転化率</a:t>
            </a:r>
            <a:r>
              <a:rPr lang="en" altLang="ja-JP" dirty="0">
                <a:effectLst/>
                <a:latin typeface="Google Sans Text"/>
              </a:rPr>
              <a:t>MAX</a:t>
            </a:r>
            <a:r>
              <a:rPr lang="ja-JP" altLang="en">
                <a:effectLst/>
                <a:latin typeface="Google Sans Text"/>
              </a:rPr>
              <a:t>、</a:t>
            </a:r>
            <a:r>
              <a:rPr lang="ja-JP" altLang="en-US">
                <a:effectLst/>
                <a:latin typeface="Google Sans Text"/>
              </a:rPr>
              <a:t>コスト</a:t>
            </a:r>
            <a:r>
              <a:rPr lang="en" altLang="ja-JP" dirty="0">
                <a:effectLst/>
                <a:latin typeface="Google Sans Text"/>
              </a:rPr>
              <a:t>MIN</a:t>
            </a:r>
            <a:r>
              <a:rPr lang="ja-JP" altLang="en">
                <a:effectLst/>
                <a:latin typeface="Google Sans Text"/>
              </a:rPr>
              <a:t>」</a:t>
            </a:r>
            <a:r>
              <a:rPr lang="ja-JP" altLang="en-US">
                <a:effectLst/>
                <a:latin typeface="Google Sans Text"/>
              </a:rPr>
              <a:t>という</a:t>
            </a:r>
            <a:r>
              <a:rPr lang="ja-JP" altLang="en-US" b="1">
                <a:effectLst/>
                <a:latin typeface="Google Sans Text"/>
              </a:rPr>
              <a:t>理想の </a:t>
            </a:r>
            <a:r>
              <a:rPr lang="en" altLang="ja-JP" b="1" dirty="0">
                <a:effectLst/>
                <a:latin typeface="Google Sans Text"/>
              </a:rPr>
              <a:t>Y </a:t>
            </a:r>
            <a:r>
              <a:rPr lang="ja-JP" altLang="en-US" b="1">
                <a:effectLst/>
                <a:latin typeface="Google Sans Text"/>
              </a:rPr>
              <a:t>をモデルに入力</a:t>
            </a:r>
            <a:r>
              <a:rPr lang="ja-JP" altLang="en-US">
                <a:effectLst/>
                <a:latin typeface="Google Sans Text"/>
              </a:rPr>
              <a:t>。</a:t>
            </a:r>
          </a:p>
          <a:p>
            <a:pPr marL="742950" lvl="1" indent="-285750">
              <a:buFont typeface="Arial" panose="020B0604020202020204" pitchFamily="34" charset="0"/>
              <a:buChar char="•"/>
            </a:pPr>
            <a:r>
              <a:rPr lang="ja-JP" altLang="en-US">
                <a:effectLst/>
                <a:latin typeface="Google Sans Text"/>
              </a:rPr>
              <a:t>その </a:t>
            </a:r>
            <a:r>
              <a:rPr lang="en" altLang="ja-JP" dirty="0">
                <a:effectLst/>
                <a:latin typeface="Google Sans Text"/>
              </a:rPr>
              <a:t>Y </a:t>
            </a:r>
            <a:r>
              <a:rPr lang="ja-JP" altLang="en-US">
                <a:effectLst/>
                <a:latin typeface="Google Sans Text"/>
              </a:rPr>
              <a:t>を実現する確率が最も高い </a:t>
            </a:r>
            <a:r>
              <a:rPr lang="en" altLang="ja-JP" dirty="0">
                <a:effectLst/>
                <a:latin typeface="Google Sans Text"/>
              </a:rPr>
              <a:t>X </a:t>
            </a:r>
            <a:r>
              <a:rPr lang="ja-JP" altLang="en-US">
                <a:effectLst/>
                <a:latin typeface="Google Sans Text"/>
              </a:rPr>
              <a:t>の分布を計算（逆解析）。</a:t>
            </a:r>
          </a:p>
          <a:p>
            <a:pPr marL="742950" lvl="1" indent="-285750">
              <a:buFont typeface="Arial" panose="020B0604020202020204" pitchFamily="34" charset="0"/>
              <a:buChar char="•"/>
            </a:pPr>
            <a:r>
              <a:rPr lang="ja-JP" altLang="en-US">
                <a:effectLst/>
                <a:latin typeface="Google Sans Text"/>
              </a:rPr>
              <a:t>算出された </a:t>
            </a:r>
            <a:r>
              <a:rPr lang="en" altLang="ja-JP" dirty="0">
                <a:effectLst/>
                <a:latin typeface="Google Sans Text"/>
              </a:rPr>
              <a:t>X </a:t>
            </a:r>
            <a:r>
              <a:rPr lang="ja-JP" altLang="en-US">
                <a:effectLst/>
                <a:latin typeface="Google Sans Text"/>
              </a:rPr>
              <a:t>を次の実験候補とする。</a:t>
            </a:r>
          </a:p>
          <a:p>
            <a:pPr>
              <a:buFont typeface="Arial" panose="020B0604020202020204" pitchFamily="34" charset="0"/>
              <a:buChar char="•"/>
            </a:pPr>
            <a:r>
              <a:rPr lang="ja-JP" altLang="en-US" b="1">
                <a:effectLst/>
                <a:latin typeface="Google Sans Text"/>
              </a:rPr>
              <a:t>メリット</a:t>
            </a:r>
            <a:r>
              <a:rPr lang="en-US" altLang="ja-JP" b="1" dirty="0">
                <a:effectLst/>
                <a:latin typeface="Google Sans Text"/>
              </a:rPr>
              <a:t>:</a:t>
            </a:r>
            <a:r>
              <a:rPr lang="ja-JP" altLang="en-US">
                <a:effectLst/>
                <a:latin typeface="Google Sans Text"/>
              </a:rPr>
              <a:t> 「ゴール（目標値）」が明確な場合、獲得関数を介さず直接 </a:t>
            </a:r>
            <a:r>
              <a:rPr lang="en" altLang="ja-JP" dirty="0">
                <a:effectLst/>
                <a:latin typeface="Google Sans Text"/>
              </a:rPr>
              <a:t>X </a:t>
            </a:r>
            <a:r>
              <a:rPr lang="ja-JP" altLang="en-US">
                <a:effectLst/>
                <a:latin typeface="Google Sans Text"/>
              </a:rPr>
              <a:t>を狙い撃ちできる。</a:t>
            </a:r>
          </a:p>
          <a:p>
            <a:pPr>
              <a:buFont typeface="Arial" panose="020B0604020202020204" pitchFamily="34" charset="0"/>
              <a:buChar char="•"/>
            </a:pPr>
            <a:r>
              <a:rPr lang="ja-JP" altLang="en-US" b="1">
                <a:effectLst/>
                <a:latin typeface="Google Sans Text"/>
              </a:rPr>
              <a:t>デメリット</a:t>
            </a:r>
            <a:r>
              <a:rPr lang="en-US" altLang="ja-JP" b="1" dirty="0">
                <a:effectLst/>
                <a:latin typeface="Google Sans Text"/>
              </a:rPr>
              <a:t>:</a:t>
            </a:r>
            <a:r>
              <a:rPr lang="ja-JP" altLang="en-US">
                <a:effectLst/>
                <a:latin typeface="Google Sans Text"/>
              </a:rPr>
              <a:t> 学習データの範囲外への外挿（極端な目標設定）には、モデルの質が強く依存する。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4"/>
        <p:cNvGrpSpPr/>
        <p:nvPr/>
      </p:nvGrpSpPr>
      <p:grpSpPr>
        <a:xfrm>
          <a:off x="0" y="0"/>
          <a:ext cx="0" cy="0"/>
          <a:chOff x="0" y="0"/>
          <a:chExt cx="0" cy="0"/>
        </a:xfrm>
      </p:grpSpPr>
      <p:pic>
        <p:nvPicPr>
          <p:cNvPr id="146" name="Google Shape;146;p17" descr="image.png"/>
          <p:cNvPicPr preferRelativeResize="0"/>
          <p:nvPr/>
        </p:nvPicPr>
        <p:blipFill rotWithShape="1">
          <a:blip r:embed="rId3">
            <a:alphaModFix/>
          </a:blip>
          <a:srcRect/>
          <a:stretch/>
        </p:blipFill>
        <p:spPr>
          <a:xfrm>
            <a:off x="6286500" y="4067918"/>
            <a:ext cx="4381500" cy="1905000"/>
          </a:xfrm>
          <a:prstGeom prst="rect">
            <a:avLst/>
          </a:prstGeom>
          <a:noFill/>
          <a:ln>
            <a:noFill/>
          </a:ln>
        </p:spPr>
      </p:pic>
      <p:sp>
        <p:nvSpPr>
          <p:cNvPr id="147" name="Google Shape;147;p17"/>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1F3F"/>
                </a:solidFill>
                <a:latin typeface="Poppins"/>
                <a:ea typeface="Poppins"/>
                <a:cs typeface="Poppins"/>
                <a:sym typeface="Poppins"/>
              </a:rPr>
              <a:t>トレードオフ環境における「ユートピア点」の罠</a:t>
            </a:r>
            <a:endParaRPr/>
          </a:p>
        </p:txBody>
      </p:sp>
      <p:sp>
        <p:nvSpPr>
          <p:cNvPr id="148" name="Google Shape;148;p17"/>
          <p:cNvSpPr/>
          <p:nvPr/>
        </p:nvSpPr>
        <p:spPr>
          <a:xfrm>
            <a:off x="571500" y="571500"/>
            <a:ext cx="76200" cy="6000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p:cNvSpPr txBox="1"/>
          <p:nvPr/>
        </p:nvSpPr>
        <p:spPr>
          <a:xfrm>
            <a:off x="1905000" y="2365176"/>
            <a:ext cx="8103524" cy="155119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600" b="0" i="0" u="none" strike="noStrike" cap="none" dirty="0" err="1">
                <a:solidFill>
                  <a:srgbClr val="001F3F"/>
                </a:solidFill>
                <a:latin typeface="Lato"/>
                <a:ea typeface="Lato"/>
                <a:cs typeface="Lato"/>
                <a:sym typeface="Lato"/>
              </a:rPr>
              <a:t>最高の性能と最低のコストは物理的に両立不可能</a:t>
            </a:r>
            <a:r>
              <a:rPr lang="en-US" sz="3600" b="0" i="0" u="none" strike="noStrike" cap="none" dirty="0">
                <a:solidFill>
                  <a:srgbClr val="001F3F"/>
                </a:solidFill>
                <a:latin typeface="Lato"/>
                <a:ea typeface="Lato"/>
                <a:cs typeface="Lato"/>
                <a:sym typeface="Lato"/>
              </a:rPr>
              <a:t>。</a:t>
            </a:r>
            <a:endParaRPr dirty="0"/>
          </a:p>
        </p:txBody>
      </p:sp>
      <p:sp>
        <p:nvSpPr>
          <p:cNvPr id="151" name="Google Shape;151;p17"/>
          <p:cNvSpPr txBox="1"/>
          <p:nvPr/>
        </p:nvSpPr>
        <p:spPr>
          <a:xfrm>
            <a:off x="2190750" y="4197548"/>
            <a:ext cx="371475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A4A4A"/>
                </a:solidFill>
                <a:latin typeface="Lato"/>
                <a:ea typeface="Lato"/>
                <a:cs typeface="Lato"/>
                <a:sym typeface="Lato"/>
              </a:rPr>
              <a:t>PI(確率)の積をとる手法では、一方の目標を追求すると他方の達成確率が 0 に近づき、全体確率が消失（アンダーフロー）します。</a:t>
            </a:r>
            <a:endParaRPr/>
          </a:p>
        </p:txBody>
      </p:sp>
      <p:pic>
        <p:nvPicPr>
          <p:cNvPr id="152" name="Google Shape;152;p17" descr="image.png"/>
          <p:cNvPicPr preferRelativeResize="0"/>
          <p:nvPr/>
        </p:nvPicPr>
        <p:blipFill rotWithShape="1">
          <a:blip r:embed="rId4">
            <a:alphaModFix/>
          </a:blip>
          <a:srcRect/>
          <a:stretch/>
        </p:blipFill>
        <p:spPr>
          <a:xfrm>
            <a:off x="6286500" y="4026098"/>
            <a:ext cx="1019175" cy="180975"/>
          </a:xfrm>
          <a:prstGeom prst="rect">
            <a:avLst/>
          </a:prstGeom>
          <a:noFill/>
          <a:ln>
            <a:noFill/>
          </a:ln>
        </p:spPr>
      </p:pic>
      <p:pic>
        <p:nvPicPr>
          <p:cNvPr id="153" name="Google Shape;153;p17" descr="image.png"/>
          <p:cNvPicPr preferRelativeResize="0"/>
          <p:nvPr/>
        </p:nvPicPr>
        <p:blipFill rotWithShape="1">
          <a:blip r:embed="rId5">
            <a:alphaModFix/>
          </a:blip>
          <a:srcRect/>
          <a:stretch/>
        </p:blipFill>
        <p:spPr>
          <a:xfrm>
            <a:off x="1524000" y="4370784"/>
            <a:ext cx="476250" cy="476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7"/>
        <p:cNvGrpSpPr/>
        <p:nvPr/>
      </p:nvGrpSpPr>
      <p:grpSpPr>
        <a:xfrm>
          <a:off x="0" y="0"/>
          <a:ext cx="0" cy="0"/>
          <a:chOff x="0" y="0"/>
          <a:chExt cx="0" cy="0"/>
        </a:xfrm>
      </p:grpSpPr>
      <p:pic>
        <p:nvPicPr>
          <p:cNvPr id="158" name="Google Shape;158;p18" descr="image.png"/>
          <p:cNvPicPr preferRelativeResize="0"/>
          <p:nvPr/>
        </p:nvPicPr>
        <p:blipFill rotWithShape="1">
          <a:blip r:embed="rId3">
            <a:alphaModFix/>
          </a:blip>
          <a:srcRect/>
          <a:stretch/>
        </p:blipFill>
        <p:spPr>
          <a:xfrm>
            <a:off x="0" y="232756"/>
            <a:ext cx="12192000" cy="6858000"/>
          </a:xfrm>
          <a:prstGeom prst="rect">
            <a:avLst/>
          </a:prstGeom>
          <a:noFill/>
          <a:ln>
            <a:noFill/>
          </a:ln>
        </p:spPr>
      </p:pic>
      <p:sp>
        <p:nvSpPr>
          <p:cNvPr id="159" name="Google Shape;159;p18"/>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1F3F"/>
                </a:solidFill>
                <a:latin typeface="Poppins"/>
                <a:ea typeface="Poppins"/>
                <a:cs typeface="Poppins"/>
                <a:sym typeface="Poppins"/>
              </a:rPr>
              <a:t>BO VS </a:t>
            </a:r>
            <a:r>
              <a:rPr lang="en-US" sz="3150" b="1" i="0" u="none" strike="noStrike" cap="none" dirty="0" err="1">
                <a:solidFill>
                  <a:srgbClr val="001F3F"/>
                </a:solidFill>
                <a:latin typeface="Poppins"/>
                <a:ea typeface="Poppins"/>
                <a:cs typeface="Poppins"/>
                <a:sym typeface="Poppins"/>
              </a:rPr>
              <a:t>GMR：設計思想の決定的な違い</a:t>
            </a:r>
            <a:endParaRPr dirty="0"/>
          </a:p>
        </p:txBody>
      </p:sp>
      <p:sp>
        <p:nvSpPr>
          <p:cNvPr id="160" name="Google Shape;160;p18"/>
          <p:cNvSpPr/>
          <p:nvPr/>
        </p:nvSpPr>
        <p:spPr>
          <a:xfrm>
            <a:off x="571500" y="571500"/>
            <a:ext cx="76200" cy="6000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61" name="Google Shape;161;p18"/>
          <p:cNvGraphicFramePr/>
          <p:nvPr>
            <p:extLst>
              <p:ext uri="{D42A27DB-BD31-4B8C-83A1-F6EECF244321}">
                <p14:modId xmlns:p14="http://schemas.microsoft.com/office/powerpoint/2010/main" val="3465505880"/>
              </p:ext>
            </p:extLst>
          </p:nvPr>
        </p:nvGraphicFramePr>
        <p:xfrm>
          <a:off x="571500" y="2638425"/>
          <a:ext cx="11049000" cy="2752675"/>
        </p:xfrm>
        <a:graphic>
          <a:graphicData uri="http://schemas.openxmlformats.org/drawingml/2006/table">
            <a:tbl>
              <a:tblPr firstRow="1" bandRow="1">
                <a:noFill/>
                <a:tableStyleId>{2DECEC5E-065B-4EF9-82AF-D43F44A7C0F6}</a:tableStyleId>
              </a:tblPr>
              <a:tblGrid>
                <a:gridCol w="2018850">
                  <a:extLst>
                    <a:ext uri="{9D8B030D-6E8A-4147-A177-3AD203B41FA5}">
                      <a16:colId xmlns:a16="http://schemas.microsoft.com/office/drawing/2014/main" val="20000"/>
                    </a:ext>
                  </a:extLst>
                </a:gridCol>
                <a:gridCol w="4368100">
                  <a:extLst>
                    <a:ext uri="{9D8B030D-6E8A-4147-A177-3AD203B41FA5}">
                      <a16:colId xmlns:a16="http://schemas.microsoft.com/office/drawing/2014/main" val="20001"/>
                    </a:ext>
                  </a:extLst>
                </a:gridCol>
                <a:gridCol w="4662050">
                  <a:extLst>
                    <a:ext uri="{9D8B030D-6E8A-4147-A177-3AD203B41FA5}">
                      <a16:colId xmlns:a16="http://schemas.microsoft.com/office/drawing/2014/main" val="20002"/>
                    </a:ext>
                  </a:extLst>
                </a:gridCol>
              </a:tblGrid>
              <a:tr h="458775">
                <a:tc>
                  <a:txBody>
                    <a:bodyPr/>
                    <a:lstStyle/>
                    <a:p>
                      <a:pPr marL="0" marR="0" lvl="0" indent="0" algn="l" rtl="0">
                        <a:spcBef>
                          <a:spcPts val="0"/>
                        </a:spcBef>
                        <a:spcAft>
                          <a:spcPts val="0"/>
                        </a:spcAft>
                        <a:buNone/>
                      </a:pPr>
                      <a:r>
                        <a:rPr lang="en-US" sz="1350" b="1" i="0" u="none" strike="noStrike" cap="none">
                          <a:solidFill>
                            <a:srgbClr val="FFFFFF"/>
                          </a:solidFill>
                          <a:latin typeface="Lato"/>
                          <a:ea typeface="Lato"/>
                          <a:cs typeface="Lato"/>
                          <a:sym typeface="Lato"/>
                        </a:rPr>
                        <a:t>比較項目</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1F3F"/>
                    </a:solidFill>
                  </a:tcPr>
                </a:tc>
                <a:tc>
                  <a:txBody>
                    <a:bodyPr/>
                    <a:lstStyle/>
                    <a:p>
                      <a:pPr marL="0" marR="0" lvl="0" indent="0" algn="l" rtl="0">
                        <a:spcBef>
                          <a:spcPts val="0"/>
                        </a:spcBef>
                        <a:spcAft>
                          <a:spcPts val="0"/>
                        </a:spcAft>
                        <a:buNone/>
                      </a:pPr>
                      <a:r>
                        <a:rPr lang="en-US" sz="1350" b="1" i="0" u="none" strike="noStrike" cap="none">
                          <a:solidFill>
                            <a:srgbClr val="FFFFFF"/>
                          </a:solidFill>
                          <a:latin typeface="Lato"/>
                          <a:ea typeface="Lato"/>
                          <a:cs typeface="Lato"/>
                          <a:sym typeface="Lato"/>
                        </a:rPr>
                        <a:t>ベイズ最適化 (BO)</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1F3F"/>
                    </a:solidFill>
                  </a:tcPr>
                </a:tc>
                <a:tc>
                  <a:txBody>
                    <a:bodyPr/>
                    <a:lstStyle/>
                    <a:p>
                      <a:pPr marL="0" marR="0" lvl="0" indent="0" algn="l" rtl="0">
                        <a:spcBef>
                          <a:spcPts val="0"/>
                        </a:spcBef>
                        <a:spcAft>
                          <a:spcPts val="0"/>
                        </a:spcAft>
                        <a:buNone/>
                      </a:pPr>
                      <a:r>
                        <a:rPr lang="en-US" sz="1350" b="1" i="0" u="none" strike="noStrike" cap="none" dirty="0" err="1">
                          <a:solidFill>
                            <a:srgbClr val="FFFFFF"/>
                          </a:solidFill>
                          <a:latin typeface="Lato"/>
                          <a:ea typeface="Lato"/>
                          <a:cs typeface="Lato"/>
                          <a:sym typeface="Lato"/>
                        </a:rPr>
                        <a:t>ガウス混合回帰</a:t>
                      </a:r>
                      <a:r>
                        <a:rPr lang="en-US" sz="1350" b="1" i="0" u="none" strike="noStrike" cap="none" dirty="0">
                          <a:solidFill>
                            <a:srgbClr val="FFFFFF"/>
                          </a:solidFill>
                          <a:latin typeface="Lato"/>
                          <a:ea typeface="Lato"/>
                          <a:cs typeface="Lato"/>
                          <a:sym typeface="Lato"/>
                        </a:rPr>
                        <a:t> (GMR)</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1F3F"/>
                    </a:solidFill>
                  </a:tcPr>
                </a:tc>
                <a:extLst>
                  <a:ext uri="{0D108BD9-81ED-4DB2-BD59-A6C34878D82A}">
                    <a16:rowId xmlns:a16="http://schemas.microsoft.com/office/drawing/2014/main" val="10000"/>
                  </a:ext>
                </a:extLst>
              </a:tr>
              <a:tr h="458775">
                <a:tc>
                  <a:txBody>
                    <a:bodyPr/>
                    <a:lstStyle/>
                    <a:p>
                      <a:pPr marL="0" marR="0" lvl="0" indent="0" algn="l" rtl="0">
                        <a:spcBef>
                          <a:spcPts val="0"/>
                        </a:spcBef>
                        <a:spcAft>
                          <a:spcPts val="0"/>
                        </a:spcAft>
                        <a:buNone/>
                      </a:pPr>
                      <a:r>
                        <a:rPr lang="en-US" sz="1200" b="0" i="0" u="none" strike="noStrike" cap="none">
                          <a:solidFill>
                            <a:srgbClr val="1A1A1A"/>
                          </a:solidFill>
                          <a:latin typeface="Lato"/>
                          <a:ea typeface="Lato"/>
                          <a:cs typeface="Lato"/>
                          <a:sym typeface="Lato"/>
                        </a:rPr>
                        <a:t>推論の方向</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err="1">
                          <a:solidFill>
                            <a:srgbClr val="1A1A1A"/>
                          </a:solidFill>
                          <a:latin typeface="Lato"/>
                          <a:ea typeface="Lato"/>
                          <a:cs typeface="Lato"/>
                          <a:sym typeface="Lato"/>
                        </a:rPr>
                        <a:t>順方向</a:t>
                      </a:r>
                      <a:r>
                        <a:rPr lang="en-US" sz="1200" b="0" i="0" u="none" strike="noStrike" cap="none" dirty="0">
                          <a:solidFill>
                            <a:srgbClr val="1A1A1A"/>
                          </a:solidFill>
                          <a:latin typeface="Lato"/>
                          <a:ea typeface="Lato"/>
                          <a:cs typeface="Lato"/>
                          <a:sym typeface="Lato"/>
                        </a:rPr>
                        <a:t> (</a:t>
                      </a:r>
                      <a:r>
                        <a:rPr lang="en-US" sz="1200" b="0" i="0" u="none" strike="noStrike" cap="none" dirty="0" err="1">
                          <a:solidFill>
                            <a:srgbClr val="1A1A1A"/>
                          </a:solidFill>
                          <a:latin typeface="Lato"/>
                          <a:ea typeface="Lato"/>
                          <a:cs typeface="Lato"/>
                          <a:sym typeface="Lato"/>
                        </a:rPr>
                        <a:t>XからYへの予測</a:t>
                      </a:r>
                      <a:r>
                        <a:rPr lang="en-US" sz="1200" b="0" i="0" u="none" strike="noStrike" cap="none" dirty="0">
                          <a:solidFill>
                            <a:srgbClr val="1A1A1A"/>
                          </a:solidFill>
                          <a:latin typeface="Lato"/>
                          <a:ea typeface="Lato"/>
                          <a:cs typeface="Lato"/>
                          <a:sym typeface="Lato"/>
                        </a:rPr>
                        <a: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err="1">
                          <a:solidFill>
                            <a:srgbClr val="1A1A1A"/>
                          </a:solidFill>
                          <a:latin typeface="Lato"/>
                          <a:ea typeface="Lato"/>
                          <a:cs typeface="Lato"/>
                          <a:sym typeface="Lato"/>
                        </a:rPr>
                        <a:t>逆方向</a:t>
                      </a:r>
                      <a:r>
                        <a:rPr lang="en-US" sz="1200" b="0" i="0" u="none" strike="noStrike" cap="none" dirty="0">
                          <a:solidFill>
                            <a:srgbClr val="1A1A1A"/>
                          </a:solidFill>
                          <a:latin typeface="Lato"/>
                          <a:ea typeface="Lato"/>
                          <a:cs typeface="Lato"/>
                          <a:sym typeface="Lato"/>
                        </a:rPr>
                        <a:t> (</a:t>
                      </a:r>
                      <a:r>
                        <a:rPr lang="en-US" sz="1200" b="0" i="0" u="none" strike="noStrike" cap="none" dirty="0" err="1">
                          <a:solidFill>
                            <a:srgbClr val="1A1A1A"/>
                          </a:solidFill>
                          <a:latin typeface="Lato"/>
                          <a:ea typeface="Lato"/>
                          <a:cs typeface="Lato"/>
                          <a:sym typeface="Lato"/>
                        </a:rPr>
                        <a:t>YからXへの設計</a:t>
                      </a:r>
                      <a:r>
                        <a:rPr lang="en-US" sz="1200" b="0" i="0" u="none" strike="noStrike" cap="none" dirty="0">
                          <a:solidFill>
                            <a:srgbClr val="1A1A1A"/>
                          </a:solidFill>
                          <a:latin typeface="Lato"/>
                          <a:ea typeface="Lato"/>
                          <a:cs typeface="Lato"/>
                          <a:sym typeface="Lato"/>
                        </a:rPr>
                        <a: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8775">
                <a:tc>
                  <a:txBody>
                    <a:bodyPr/>
                    <a:lstStyle/>
                    <a:p>
                      <a:pPr marL="0" marR="0" lvl="0" indent="0" algn="l" rtl="0">
                        <a:spcBef>
                          <a:spcPts val="0"/>
                        </a:spcBef>
                        <a:spcAft>
                          <a:spcPts val="0"/>
                        </a:spcAft>
                        <a:buNone/>
                      </a:pPr>
                      <a:r>
                        <a:rPr lang="en-US" sz="1200" b="0" i="0" u="none" strike="noStrike" cap="none" dirty="0" err="1">
                          <a:solidFill>
                            <a:srgbClr val="1A1A1A"/>
                          </a:solidFill>
                          <a:latin typeface="Lato"/>
                          <a:ea typeface="Lato"/>
                          <a:cs typeface="Lato"/>
                          <a:sym typeface="Lato"/>
                        </a:rPr>
                        <a:t>基本モデル</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CFC"/>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Lato"/>
                          <a:ea typeface="Lato"/>
                          <a:cs typeface="Lato"/>
                          <a:sym typeface="Lato"/>
                        </a:rPr>
                        <a:t>ガウス過程回帰 (GPR)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CFC"/>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Lato"/>
                          <a:ea typeface="Lato"/>
                          <a:cs typeface="Lato"/>
                          <a:sym typeface="Lato"/>
                        </a:rPr>
                        <a:t>ガウス混合モデル (GMM)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CFC"/>
                    </a:solidFill>
                  </a:tcPr>
                </a:tc>
                <a:extLst>
                  <a:ext uri="{0D108BD9-81ED-4DB2-BD59-A6C34878D82A}">
                    <a16:rowId xmlns:a16="http://schemas.microsoft.com/office/drawing/2014/main" val="10002"/>
                  </a:ext>
                </a:extLst>
              </a:tr>
              <a:tr h="458775">
                <a:tc>
                  <a:txBody>
                    <a:bodyPr/>
                    <a:lstStyle/>
                    <a:p>
                      <a:pPr marL="0" marR="0" lvl="0" indent="0" algn="l" rtl="0">
                        <a:spcBef>
                          <a:spcPts val="0"/>
                        </a:spcBef>
                        <a:spcAft>
                          <a:spcPts val="0"/>
                        </a:spcAft>
                        <a:buNone/>
                      </a:pPr>
                      <a:r>
                        <a:rPr lang="en-US" sz="1200" b="0" i="0" u="none" strike="noStrike" cap="none">
                          <a:solidFill>
                            <a:srgbClr val="1A1A1A"/>
                          </a:solidFill>
                          <a:latin typeface="Lato"/>
                          <a:ea typeface="Lato"/>
                          <a:cs typeface="Lato"/>
                          <a:sym typeface="Lato"/>
                        </a:rPr>
                        <a:t>選択基準</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err="1">
                          <a:solidFill>
                            <a:srgbClr val="1A1A1A"/>
                          </a:solidFill>
                          <a:latin typeface="Lato"/>
                          <a:ea typeface="Lato"/>
                          <a:cs typeface="Lato"/>
                          <a:sym typeface="Lato"/>
                        </a:rPr>
                        <a:t>獲得関数</a:t>
                      </a:r>
                      <a:r>
                        <a:rPr lang="en-US" sz="1200" b="0" i="0" u="none" strike="noStrike" cap="none" dirty="0">
                          <a:solidFill>
                            <a:srgbClr val="1A1A1A"/>
                          </a:solidFill>
                          <a:latin typeface="Lato"/>
                          <a:ea typeface="Lato"/>
                          <a:cs typeface="Lato"/>
                          <a:sym typeface="Lato"/>
                        </a:rPr>
                        <a:t> (EI, </a:t>
                      </a:r>
                      <a:r>
                        <a:rPr lang="en-US" sz="1200" b="0" i="0" u="none" strike="noStrike" cap="none" dirty="0" err="1">
                          <a:solidFill>
                            <a:srgbClr val="1A1A1A"/>
                          </a:solidFill>
                          <a:latin typeface="Lato"/>
                          <a:ea typeface="Lato"/>
                          <a:cs typeface="Lato"/>
                          <a:sym typeface="Lato"/>
                        </a:rPr>
                        <a:t>PIなど</a:t>
                      </a:r>
                      <a:r>
                        <a:rPr lang="en-US" sz="1200" b="0" i="0" u="none" strike="noStrike" cap="none" dirty="0">
                          <a:solidFill>
                            <a:srgbClr val="1A1A1A"/>
                          </a:solidFill>
                          <a:latin typeface="Lato"/>
                          <a:ea typeface="Lato"/>
                          <a:cs typeface="Lato"/>
                          <a:sym typeface="Lato"/>
                        </a:rPr>
                        <a: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err="1">
                          <a:solidFill>
                            <a:srgbClr val="1A1A1A"/>
                          </a:solidFill>
                          <a:latin typeface="Lato"/>
                          <a:ea typeface="Lato"/>
                          <a:cs typeface="Lato"/>
                          <a:sym typeface="Lato"/>
                        </a:rPr>
                        <a:t>目標値Yに対する条件付き平均</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8775">
                <a:tc>
                  <a:txBody>
                    <a:bodyPr/>
                    <a:lstStyle/>
                    <a:p>
                      <a:pPr marL="0" marR="0" lvl="0" indent="0" algn="l" rtl="0">
                        <a:spcBef>
                          <a:spcPts val="0"/>
                        </a:spcBef>
                        <a:spcAft>
                          <a:spcPts val="0"/>
                        </a:spcAft>
                        <a:buNone/>
                      </a:pPr>
                      <a:r>
                        <a:rPr lang="en-US" sz="1200" b="0" i="0" u="none" strike="noStrike" cap="none">
                          <a:solidFill>
                            <a:srgbClr val="1A1A1A"/>
                          </a:solidFill>
                          <a:latin typeface="Lato"/>
                          <a:ea typeface="Lato"/>
                          <a:cs typeface="Lato"/>
                          <a:sym typeface="Lato"/>
                        </a:rPr>
                        <a:t>探索の性格</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CFC"/>
                    </a:solidFill>
                  </a:tcPr>
                </a:tc>
                <a:tc>
                  <a:txBody>
                    <a:bodyPr/>
                    <a:lstStyle/>
                    <a:p>
                      <a:pPr marL="0" marR="0" lvl="0" indent="0" algn="l" rtl="0">
                        <a:spcBef>
                          <a:spcPts val="0"/>
                        </a:spcBef>
                        <a:spcAft>
                          <a:spcPts val="0"/>
                        </a:spcAft>
                        <a:buNone/>
                      </a:pPr>
                      <a:r>
                        <a:rPr lang="en-US" sz="1200" b="0" i="0" u="none" strike="noStrike" cap="none" dirty="0" err="1">
                          <a:solidFill>
                            <a:srgbClr val="1A1A1A"/>
                          </a:solidFill>
                          <a:latin typeface="Lato"/>
                          <a:ea typeface="Lato"/>
                          <a:cs typeface="Lato"/>
                          <a:sym typeface="Lato"/>
                        </a:rPr>
                        <a:t>未知領域の「探索」と有望領域の「活用」の両立</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CFC"/>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Lato"/>
                          <a:ea typeface="Lato"/>
                          <a:cs typeface="Lato"/>
                          <a:sym typeface="Lato"/>
                        </a:rPr>
                        <a:t>目標への「最短ルート」の計算</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CFC"/>
                    </a:solidFill>
                  </a:tcPr>
                </a:tc>
                <a:extLst>
                  <a:ext uri="{0D108BD9-81ED-4DB2-BD59-A6C34878D82A}">
                    <a16:rowId xmlns:a16="http://schemas.microsoft.com/office/drawing/2014/main" val="10004"/>
                  </a:ext>
                </a:extLst>
              </a:tr>
              <a:tr h="458800">
                <a:tc>
                  <a:txBody>
                    <a:bodyPr/>
                    <a:lstStyle/>
                    <a:p>
                      <a:pPr marL="0" marR="0" lvl="0" indent="0" algn="l" rtl="0">
                        <a:spcBef>
                          <a:spcPts val="0"/>
                        </a:spcBef>
                        <a:spcAft>
                          <a:spcPts val="0"/>
                        </a:spcAft>
                        <a:buNone/>
                      </a:pPr>
                      <a:r>
                        <a:rPr lang="en-US" sz="1200" b="0" i="0" u="none" strike="noStrike" cap="none" dirty="0" err="1">
                          <a:solidFill>
                            <a:srgbClr val="1A1A1A"/>
                          </a:solidFill>
                          <a:latin typeface="Lato"/>
                          <a:ea typeface="Lato"/>
                          <a:cs typeface="Lato"/>
                          <a:sym typeface="Lato"/>
                        </a:rPr>
                        <a:t>多目的対応</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err="1">
                          <a:solidFill>
                            <a:srgbClr val="1A1A1A"/>
                          </a:solidFill>
                          <a:latin typeface="Lato"/>
                          <a:ea typeface="Lato"/>
                          <a:cs typeface="Lato"/>
                          <a:sym typeface="Lato"/>
                        </a:rPr>
                        <a:t>重み付けスカラー化が必要</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dirty="0" err="1">
                          <a:solidFill>
                            <a:srgbClr val="1A1A1A"/>
                          </a:solidFill>
                          <a:latin typeface="Lato"/>
                          <a:ea typeface="Lato"/>
                          <a:cs typeface="Lato"/>
                          <a:sym typeface="Lato"/>
                        </a:rPr>
                        <a:t>目標物性を直接指定可能</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62" name="Google Shape;162;p18"/>
          <p:cNvSpPr/>
          <p:nvPr/>
        </p:nvSpPr>
        <p:spPr>
          <a:xfrm>
            <a:off x="571500" y="3586162"/>
            <a:ext cx="2018853"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18"/>
          <p:cNvSpPr/>
          <p:nvPr/>
        </p:nvSpPr>
        <p:spPr>
          <a:xfrm>
            <a:off x="2590353" y="3586162"/>
            <a:ext cx="4368105"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4" name="Google Shape;164;p18"/>
          <p:cNvSpPr/>
          <p:nvPr/>
        </p:nvSpPr>
        <p:spPr>
          <a:xfrm>
            <a:off x="6958458" y="3586162"/>
            <a:ext cx="4662041"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5" name="Google Shape;165;p18"/>
          <p:cNvSpPr/>
          <p:nvPr/>
        </p:nvSpPr>
        <p:spPr>
          <a:xfrm>
            <a:off x="571500" y="4033837"/>
            <a:ext cx="2018853"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6" name="Google Shape;166;p18"/>
          <p:cNvSpPr/>
          <p:nvPr/>
        </p:nvSpPr>
        <p:spPr>
          <a:xfrm>
            <a:off x="2590353" y="4033837"/>
            <a:ext cx="4368105"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7" name="Google Shape;167;p18"/>
          <p:cNvSpPr/>
          <p:nvPr/>
        </p:nvSpPr>
        <p:spPr>
          <a:xfrm>
            <a:off x="6958458" y="4033837"/>
            <a:ext cx="4662041"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8" name="Google Shape;168;p18"/>
          <p:cNvSpPr/>
          <p:nvPr/>
        </p:nvSpPr>
        <p:spPr>
          <a:xfrm>
            <a:off x="571500" y="4481512"/>
            <a:ext cx="2018853"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9" name="Google Shape;169;p18"/>
          <p:cNvSpPr/>
          <p:nvPr/>
        </p:nvSpPr>
        <p:spPr>
          <a:xfrm>
            <a:off x="2590353" y="4481512"/>
            <a:ext cx="4368105"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0" name="Google Shape;170;p18"/>
          <p:cNvSpPr/>
          <p:nvPr/>
        </p:nvSpPr>
        <p:spPr>
          <a:xfrm>
            <a:off x="6958458" y="4481512"/>
            <a:ext cx="4662041"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1" name="Google Shape;171;p18"/>
          <p:cNvSpPr/>
          <p:nvPr/>
        </p:nvSpPr>
        <p:spPr>
          <a:xfrm>
            <a:off x="571500" y="4929187"/>
            <a:ext cx="2018853"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2" name="Google Shape;172;p18"/>
          <p:cNvSpPr/>
          <p:nvPr/>
        </p:nvSpPr>
        <p:spPr>
          <a:xfrm>
            <a:off x="2590353" y="4929187"/>
            <a:ext cx="4368105"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3" name="Google Shape;173;p18"/>
          <p:cNvSpPr/>
          <p:nvPr/>
        </p:nvSpPr>
        <p:spPr>
          <a:xfrm>
            <a:off x="6958458" y="4929187"/>
            <a:ext cx="4662041"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4" name="Google Shape;174;p18"/>
          <p:cNvSpPr/>
          <p:nvPr/>
        </p:nvSpPr>
        <p:spPr>
          <a:xfrm>
            <a:off x="571500" y="5376862"/>
            <a:ext cx="2018853"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5" name="Google Shape;175;p18"/>
          <p:cNvSpPr/>
          <p:nvPr/>
        </p:nvSpPr>
        <p:spPr>
          <a:xfrm>
            <a:off x="2590353" y="5376862"/>
            <a:ext cx="4368105"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6" name="Google Shape;176;p18"/>
          <p:cNvSpPr/>
          <p:nvPr/>
        </p:nvSpPr>
        <p:spPr>
          <a:xfrm>
            <a:off x="6958458" y="5376862"/>
            <a:ext cx="4662041" cy="9525"/>
          </a:xfrm>
          <a:prstGeom prst="rect">
            <a:avLst/>
          </a:prstGeom>
          <a:solidFill>
            <a:srgbClr val="E0E0E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F68DA913-BC56-FE9B-22A1-AB2ABD8C2FA3}"/>
              </a:ext>
            </a:extLst>
          </p:cNvPr>
          <p:cNvSpPr txBox="1"/>
          <p:nvPr/>
        </p:nvSpPr>
        <p:spPr>
          <a:xfrm>
            <a:off x="647700" y="3902002"/>
            <a:ext cx="9262455" cy="2462213"/>
          </a:xfrm>
          <a:prstGeom prst="rect">
            <a:avLst/>
          </a:prstGeom>
          <a:noFill/>
        </p:spPr>
        <p:txBody>
          <a:bodyPr wrap="square">
            <a:spAutoFit/>
          </a:bodyPr>
          <a:lstStyle/>
          <a:p>
            <a:r>
              <a:rPr lang="ja-JP" altLang="en-US" b="1">
                <a:effectLst/>
                <a:latin typeface="Google Sans"/>
              </a:rPr>
              <a:t>金子先生の考え方に基づく考察</a:t>
            </a:r>
          </a:p>
          <a:p>
            <a:r>
              <a:rPr lang="ja-JP" altLang="en-US">
                <a:effectLst/>
                <a:latin typeface="Google Sans Text"/>
              </a:rPr>
              <a:t>金子先生のブログ（</a:t>
            </a:r>
            <a:r>
              <a:rPr lang="en" altLang="ja-JP" dirty="0" err="1">
                <a:effectLst/>
                <a:latin typeface="Google Sans Text"/>
              </a:rPr>
              <a:t>datachemeng.com</a:t>
            </a:r>
            <a:r>
              <a:rPr lang="ja-JP" altLang="en">
                <a:effectLst/>
                <a:latin typeface="Google Sans Text"/>
              </a:rPr>
              <a:t>）</a:t>
            </a:r>
            <a:r>
              <a:rPr lang="ja-JP" altLang="en-US">
                <a:effectLst/>
                <a:latin typeface="Google Sans Text"/>
              </a:rPr>
              <a:t>での主張を整理すると、本比較のポイントは以下のようになります。</a:t>
            </a:r>
          </a:p>
          <a:p>
            <a:pPr>
              <a:buFont typeface="+mj-lt"/>
              <a:buAutoNum type="arabicPeriod"/>
            </a:pPr>
            <a:r>
              <a:rPr lang="ja-JP" altLang="en-US" b="1">
                <a:effectLst/>
                <a:latin typeface="Google Sans Text"/>
              </a:rPr>
              <a:t>「予測」ではなく「設計」</a:t>
            </a:r>
            <a:r>
              <a:rPr lang="en-US" altLang="ja-JP" b="1" dirty="0">
                <a:effectLst/>
                <a:latin typeface="Google Sans Text"/>
              </a:rPr>
              <a:t>:</a:t>
            </a:r>
            <a:endParaRPr lang="ja-JP" altLang="en-US">
              <a:effectLst/>
              <a:latin typeface="Google Sans Text"/>
            </a:endParaRPr>
          </a:p>
          <a:p>
            <a:pPr>
              <a:buFont typeface="+mj-lt"/>
              <a:buAutoNum type="arabicPeriod"/>
            </a:pPr>
            <a:r>
              <a:rPr lang="en" altLang="ja-JP" dirty="0">
                <a:effectLst/>
                <a:latin typeface="Google Sans Text"/>
              </a:rPr>
              <a:t>BO</a:t>
            </a:r>
            <a:r>
              <a:rPr lang="ja-JP" altLang="en-US">
                <a:effectLst/>
                <a:latin typeface="Google Sans Text"/>
              </a:rPr>
              <a:t>は「どこが良さそうか？」という予測の繰り返しですが、</a:t>
            </a:r>
            <a:r>
              <a:rPr lang="en" altLang="ja-JP" dirty="0">
                <a:effectLst/>
                <a:latin typeface="Google Sans Text"/>
              </a:rPr>
              <a:t>GMR</a:t>
            </a:r>
            <a:r>
              <a:rPr lang="ja-JP" altLang="en-US">
                <a:effectLst/>
                <a:latin typeface="Google Sans Text"/>
              </a:rPr>
              <a:t>は「こうしたい（目標）」から「こうすればいい（設計）」を導き出します。</a:t>
            </a:r>
          </a:p>
          <a:p>
            <a:pPr>
              <a:buFont typeface="+mj-lt"/>
              <a:buAutoNum type="arabicPeriod"/>
            </a:pPr>
            <a:r>
              <a:rPr lang="ja-JP" altLang="en-US" b="1">
                <a:effectLst/>
                <a:latin typeface="Google Sans Text"/>
              </a:rPr>
              <a:t>多目的最適化の扱い</a:t>
            </a:r>
            <a:r>
              <a:rPr lang="en-US" altLang="ja-JP" b="1" dirty="0">
                <a:effectLst/>
                <a:latin typeface="Google Sans Text"/>
              </a:rPr>
              <a:t>:</a:t>
            </a:r>
            <a:endParaRPr lang="ja-JP" altLang="en-US">
              <a:effectLst/>
              <a:latin typeface="Google Sans Text"/>
            </a:endParaRPr>
          </a:p>
          <a:p>
            <a:pPr>
              <a:buFont typeface="+mj-lt"/>
              <a:buAutoNum type="arabicPeriod"/>
            </a:pPr>
            <a:r>
              <a:rPr lang="en" altLang="ja-JP" dirty="0">
                <a:effectLst/>
                <a:latin typeface="Google Sans Text"/>
              </a:rPr>
              <a:t>BO</a:t>
            </a:r>
            <a:r>
              <a:rPr lang="ja-JP" altLang="en-US">
                <a:effectLst/>
                <a:latin typeface="Google Sans Text"/>
              </a:rPr>
              <a:t>では複数の </a:t>
            </a:r>
            <a:r>
              <a:rPr lang="en" altLang="ja-JP" dirty="0">
                <a:effectLst/>
                <a:latin typeface="Google Sans Text"/>
              </a:rPr>
              <a:t>Y</a:t>
            </a:r>
            <a:r>
              <a:rPr lang="ja-JP" altLang="en-US">
                <a:effectLst/>
                <a:latin typeface="Google Sans Text"/>
              </a:rPr>
              <a:t>を一つの重み付き指標に統合する必要がありますが、</a:t>
            </a:r>
            <a:r>
              <a:rPr lang="en" altLang="ja-JP" dirty="0">
                <a:effectLst/>
                <a:latin typeface="Google Sans Text"/>
              </a:rPr>
              <a:t>GMR</a:t>
            </a:r>
            <a:r>
              <a:rPr lang="ja-JP" altLang="en-US">
                <a:effectLst/>
                <a:latin typeface="Google Sans Text"/>
              </a:rPr>
              <a:t>は </a:t>
            </a:r>
            <a:r>
              <a:rPr lang="en" altLang="ja-JP" dirty="0">
                <a:effectLst/>
                <a:latin typeface="Google Sans Text"/>
              </a:rPr>
              <a:t>Y </a:t>
            </a:r>
            <a:r>
              <a:rPr lang="ja-JP" altLang="en-US">
                <a:effectLst/>
                <a:latin typeface="Google Sans Text"/>
              </a:rPr>
              <a:t>を複数固定した状態で </a:t>
            </a:r>
            <a:r>
              <a:rPr lang="en" altLang="ja-JP" dirty="0">
                <a:effectLst/>
                <a:latin typeface="Google Sans Text"/>
              </a:rPr>
              <a:t>X </a:t>
            </a:r>
            <a:r>
              <a:rPr lang="ja-JP" altLang="en-US">
                <a:effectLst/>
                <a:latin typeface="Google Sans Text"/>
              </a:rPr>
              <a:t>を推定できるため、より直感的です。</a:t>
            </a:r>
          </a:p>
          <a:p>
            <a:pPr>
              <a:buFont typeface="+mj-lt"/>
              <a:buAutoNum type="arabicPeriod"/>
            </a:pPr>
            <a:r>
              <a:rPr lang="ja-JP" altLang="en-US" b="1">
                <a:effectLst/>
                <a:latin typeface="Google Sans Text"/>
              </a:rPr>
              <a:t>適応的実験計画</a:t>
            </a:r>
            <a:r>
              <a:rPr lang="en-US" altLang="ja-JP" b="1" dirty="0">
                <a:effectLst/>
                <a:latin typeface="Google Sans Text"/>
              </a:rPr>
              <a:t>:</a:t>
            </a:r>
            <a:endParaRPr lang="ja-JP" altLang="en-US">
              <a:effectLst/>
              <a:latin typeface="Google Sans Text"/>
            </a:endParaRPr>
          </a:p>
          <a:p>
            <a:pPr>
              <a:buFont typeface="+mj-lt"/>
              <a:buAutoNum type="arabicPeriod"/>
            </a:pPr>
            <a:r>
              <a:rPr lang="ja-JP" altLang="en-US">
                <a:effectLst/>
                <a:latin typeface="Google Sans Text"/>
              </a:rPr>
              <a:t>どちらの手法も「実験→モデル更新→次の実験」というループを回しますが、</a:t>
            </a:r>
            <a:r>
              <a:rPr lang="en" altLang="ja-JP" dirty="0">
                <a:effectLst/>
                <a:latin typeface="Google Sans Text"/>
              </a:rPr>
              <a:t>GMR</a:t>
            </a:r>
            <a:r>
              <a:rPr lang="ja-JP" altLang="en-US">
                <a:effectLst/>
                <a:latin typeface="Google Sans Text"/>
              </a:rPr>
              <a:t>を用いることで、人間が「このくらいの物性が欲しい」という意図を直接アルゴリズムに反映させやすくなります。</a:t>
            </a:r>
          </a:p>
        </p:txBody>
      </p:sp>
      <p:sp>
        <p:nvSpPr>
          <p:cNvPr id="16" name="Google Shape;184;p19">
            <a:extLst>
              <a:ext uri="{FF2B5EF4-FFF2-40B4-BE49-F238E27FC236}">
                <a16:creationId xmlns:a16="http://schemas.microsoft.com/office/drawing/2014/main" id="{68339310-AE48-4D9E-3315-B85ED3BBDA11}"/>
              </a:ext>
            </a:extLst>
          </p:cNvPr>
          <p:cNvSpPr/>
          <p:nvPr/>
        </p:nvSpPr>
        <p:spPr>
          <a:xfrm>
            <a:off x="571500" y="571500"/>
            <a:ext cx="76200" cy="6000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 name="Google Shape;159;p18">
            <a:extLst>
              <a:ext uri="{FF2B5EF4-FFF2-40B4-BE49-F238E27FC236}">
                <a16:creationId xmlns:a16="http://schemas.microsoft.com/office/drawing/2014/main" id="{141F47FF-EE79-B610-FC1B-406F23C809AD}"/>
              </a:ext>
            </a:extLst>
          </p:cNvPr>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1F3F"/>
                </a:solidFill>
                <a:latin typeface="Poppins"/>
                <a:ea typeface="Poppins"/>
                <a:cs typeface="Poppins"/>
                <a:sym typeface="Poppins"/>
              </a:rPr>
              <a:t>BO VS </a:t>
            </a:r>
            <a:r>
              <a:rPr lang="en-US" sz="3150" b="1" i="0" u="none" strike="noStrike" cap="none" dirty="0" err="1">
                <a:solidFill>
                  <a:srgbClr val="001F3F"/>
                </a:solidFill>
                <a:latin typeface="Poppins"/>
                <a:ea typeface="Poppins"/>
                <a:cs typeface="Poppins"/>
                <a:sym typeface="Poppins"/>
              </a:rPr>
              <a:t>GMR：設計思想の決定的な違い</a:t>
            </a:r>
            <a:endParaRPr dirty="0"/>
          </a:p>
        </p:txBody>
      </p:sp>
    </p:spTree>
    <p:extLst>
      <p:ext uri="{BB962C8B-B14F-4D97-AF65-F5344CB8AC3E}">
        <p14:creationId xmlns:p14="http://schemas.microsoft.com/office/powerpoint/2010/main" val="2365617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0"/>
        <p:cNvGrpSpPr/>
        <p:nvPr/>
      </p:nvGrpSpPr>
      <p:grpSpPr>
        <a:xfrm>
          <a:off x="0" y="0"/>
          <a:ext cx="0" cy="0"/>
          <a:chOff x="0" y="0"/>
          <a:chExt cx="0" cy="0"/>
        </a:xfrm>
      </p:grpSpPr>
      <p:pic>
        <p:nvPicPr>
          <p:cNvPr id="181" name="Google Shape;181;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3" name="Google Shape;183;p19"/>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err="1">
                <a:solidFill>
                  <a:srgbClr val="001F3F"/>
                </a:solidFill>
                <a:latin typeface="Poppins"/>
                <a:ea typeface="Poppins"/>
                <a:cs typeface="Poppins"/>
                <a:sym typeface="Poppins"/>
              </a:rPr>
              <a:t>BO検証結果：パレート面の形成と極端な探索</a:t>
            </a:r>
            <a:endParaRPr dirty="0"/>
          </a:p>
        </p:txBody>
      </p:sp>
      <p:sp>
        <p:nvSpPr>
          <p:cNvPr id="184" name="Google Shape;184;p19"/>
          <p:cNvSpPr/>
          <p:nvPr/>
        </p:nvSpPr>
        <p:spPr>
          <a:xfrm>
            <a:off x="571500" y="571500"/>
            <a:ext cx="76200" cy="6000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9"/>
          <p:cNvSpPr txBox="1"/>
          <p:nvPr/>
        </p:nvSpPr>
        <p:spPr>
          <a:xfrm>
            <a:off x="6286500" y="2014537"/>
            <a:ext cx="560070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01F3F"/>
                </a:solidFill>
                <a:latin typeface="Poppins"/>
                <a:ea typeface="Poppins"/>
                <a:cs typeface="Poppins"/>
                <a:sym typeface="Poppins"/>
              </a:rPr>
              <a:t>スカラー化手法による挙動</a:t>
            </a:r>
            <a:endParaRPr dirty="0"/>
          </a:p>
        </p:txBody>
      </p:sp>
      <p:sp>
        <p:nvSpPr>
          <p:cNvPr id="187" name="Google Shape;187;p19"/>
          <p:cNvSpPr txBox="1"/>
          <p:nvPr/>
        </p:nvSpPr>
        <p:spPr>
          <a:xfrm>
            <a:off x="6286500" y="2462212"/>
            <a:ext cx="533400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A4A4A"/>
                </a:solidFill>
                <a:latin typeface="Lato"/>
                <a:ea typeface="Lato"/>
                <a:cs typeface="Lato"/>
                <a:sym typeface="Lato"/>
              </a:rPr>
              <a:t>重みをランダムに変えるサンプリング戦略により、パレート面の境界線を捉えることに成功。しかし、実務上の課題も浮き彫りになりました。</a:t>
            </a:r>
            <a:endParaRPr/>
          </a:p>
        </p:txBody>
      </p:sp>
      <p:sp>
        <p:nvSpPr>
          <p:cNvPr id="188" name="Google Shape;188;p19"/>
          <p:cNvSpPr txBox="1"/>
          <p:nvPr/>
        </p:nvSpPr>
        <p:spPr>
          <a:xfrm>
            <a:off x="6572250" y="3474630"/>
            <a:ext cx="952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4A4A"/>
                </a:solidFill>
                <a:latin typeface="Lato"/>
                <a:ea typeface="Lato"/>
                <a:cs typeface="Lato"/>
                <a:sym typeface="Lato"/>
              </a:rPr>
              <a:t>•</a:t>
            </a:r>
            <a:endParaRPr/>
          </a:p>
        </p:txBody>
      </p:sp>
      <p:sp>
        <p:nvSpPr>
          <p:cNvPr id="189" name="Google Shape;189;p19"/>
          <p:cNvSpPr txBox="1"/>
          <p:nvPr/>
        </p:nvSpPr>
        <p:spPr>
          <a:xfrm>
            <a:off x="6667500" y="3475583"/>
            <a:ext cx="4953000" cy="274290"/>
          </a:xfrm>
          <a:prstGeom prst="rect">
            <a:avLst/>
          </a:prstGeom>
          <a:noFill/>
          <a:ln>
            <a:noFill/>
          </a:ln>
        </p:spPr>
        <p:txBody>
          <a:bodyPr spcFirstLastPara="1" wrap="square" lIns="952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A4A4A"/>
                </a:solidFill>
                <a:latin typeface="Lato"/>
                <a:ea typeface="Lato"/>
                <a:cs typeface="Lato"/>
                <a:sym typeface="Lato"/>
              </a:rPr>
              <a:t>パレート面の明確化:</a:t>
            </a:r>
            <a:r>
              <a:rPr lang="en-US" sz="1350" b="0" i="0" u="none" strike="noStrike" cap="none">
                <a:solidFill>
                  <a:srgbClr val="4A4A4A"/>
                </a:solidFill>
                <a:latin typeface="Lato"/>
                <a:ea typeface="Lato"/>
                <a:cs typeface="Lato"/>
                <a:sym typeface="Lato"/>
              </a:rPr>
              <a:t> 最適化プロセス自体は成功</a:t>
            </a:r>
            <a:endParaRPr/>
          </a:p>
        </p:txBody>
      </p:sp>
      <p:sp>
        <p:nvSpPr>
          <p:cNvPr id="190" name="Google Shape;190;p19"/>
          <p:cNvSpPr txBox="1"/>
          <p:nvPr/>
        </p:nvSpPr>
        <p:spPr>
          <a:xfrm>
            <a:off x="6572250" y="3748920"/>
            <a:ext cx="952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4A4A"/>
                </a:solidFill>
                <a:latin typeface="Lato"/>
                <a:ea typeface="Lato"/>
                <a:cs typeface="Lato"/>
                <a:sym typeface="Lato"/>
              </a:rPr>
              <a:t>•</a:t>
            </a:r>
            <a:endParaRPr/>
          </a:p>
        </p:txBody>
      </p:sp>
      <p:sp>
        <p:nvSpPr>
          <p:cNvPr id="191" name="Google Shape;191;p19"/>
          <p:cNvSpPr txBox="1"/>
          <p:nvPr/>
        </p:nvSpPr>
        <p:spPr>
          <a:xfrm>
            <a:off x="6667500" y="3749873"/>
            <a:ext cx="4953000" cy="548580"/>
          </a:xfrm>
          <a:prstGeom prst="rect">
            <a:avLst/>
          </a:prstGeom>
          <a:noFill/>
          <a:ln>
            <a:noFill/>
          </a:ln>
        </p:spPr>
        <p:txBody>
          <a:bodyPr spcFirstLastPara="1" wrap="square" lIns="9525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A4A4A"/>
                </a:solidFill>
                <a:latin typeface="Lato"/>
                <a:ea typeface="Lato"/>
                <a:cs typeface="Lato"/>
                <a:sym typeface="Lato"/>
              </a:rPr>
              <a:t>エッジケースの露呈:</a:t>
            </a:r>
            <a:r>
              <a:rPr lang="en-US" sz="1350" b="0" i="0" u="none" strike="noStrike" cap="none">
                <a:solidFill>
                  <a:srgbClr val="4A4A4A"/>
                </a:solidFill>
                <a:latin typeface="Lato"/>
                <a:ea typeface="Lato"/>
                <a:cs typeface="Lato"/>
                <a:sym typeface="Lato"/>
              </a:rPr>
              <a:t> コストが莫大であっても性能が高い極端な条件を積極的に提案してしまう。</a:t>
            </a:r>
            <a:endParaRPr/>
          </a:p>
        </p:txBody>
      </p:sp>
      <p:pic>
        <p:nvPicPr>
          <p:cNvPr id="2" name="図 1">
            <a:extLst>
              <a:ext uri="{FF2B5EF4-FFF2-40B4-BE49-F238E27FC236}">
                <a16:creationId xmlns:a16="http://schemas.microsoft.com/office/drawing/2014/main" id="{7BC47ACE-2495-ECF8-9534-5E3893C1C0D2}"/>
              </a:ext>
            </a:extLst>
          </p:cNvPr>
          <p:cNvPicPr>
            <a:picLocks noChangeAspect="1"/>
          </p:cNvPicPr>
          <p:nvPr/>
        </p:nvPicPr>
        <p:blipFill>
          <a:blip r:embed="rId4"/>
          <a:stretch>
            <a:fillRect/>
          </a:stretch>
        </p:blipFill>
        <p:spPr>
          <a:xfrm>
            <a:off x="196851" y="1743075"/>
            <a:ext cx="5422900" cy="44069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5"/>
        <p:cNvGrpSpPr/>
        <p:nvPr/>
      </p:nvGrpSpPr>
      <p:grpSpPr>
        <a:xfrm>
          <a:off x="0" y="0"/>
          <a:ext cx="0" cy="0"/>
          <a:chOff x="0" y="0"/>
          <a:chExt cx="0" cy="0"/>
        </a:xfrm>
      </p:grpSpPr>
      <p:pic>
        <p:nvPicPr>
          <p:cNvPr id="196" name="Google Shape;196;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7" name="Google Shape;197;p20" descr="image.png"/>
          <p:cNvPicPr preferRelativeResize="0"/>
          <p:nvPr/>
        </p:nvPicPr>
        <p:blipFill rotWithShape="1">
          <a:blip r:embed="rId4">
            <a:alphaModFix/>
          </a:blip>
          <a:srcRect/>
          <a:stretch/>
        </p:blipFill>
        <p:spPr>
          <a:xfrm>
            <a:off x="571500" y="1552575"/>
            <a:ext cx="11049000" cy="4777680"/>
          </a:xfrm>
          <a:prstGeom prst="rect">
            <a:avLst/>
          </a:prstGeom>
          <a:noFill/>
          <a:ln>
            <a:noFill/>
          </a:ln>
        </p:spPr>
      </p:pic>
      <p:sp>
        <p:nvSpPr>
          <p:cNvPr id="198" name="Google Shape;198;p20"/>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1F3F"/>
                </a:solidFill>
                <a:latin typeface="Poppins"/>
                <a:ea typeface="Poppins"/>
                <a:cs typeface="Poppins"/>
                <a:sym typeface="Poppins"/>
              </a:rPr>
              <a:t>GMR検証結果：目標接近スコアの推移</a:t>
            </a:r>
            <a:endParaRPr/>
          </a:p>
        </p:txBody>
      </p:sp>
      <p:sp>
        <p:nvSpPr>
          <p:cNvPr id="199" name="Google Shape;199;p20"/>
          <p:cNvSpPr/>
          <p:nvPr/>
        </p:nvSpPr>
        <p:spPr>
          <a:xfrm>
            <a:off x="571500" y="571500"/>
            <a:ext cx="76200" cy="6000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0" name="Google Shape;200;p20"/>
          <p:cNvSpPr txBox="1"/>
          <p:nvPr/>
        </p:nvSpPr>
        <p:spPr>
          <a:xfrm>
            <a:off x="571500" y="5267325"/>
            <a:ext cx="11049000" cy="27429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1" i="0" u="none" strike="noStrike" cap="none">
                <a:solidFill>
                  <a:srgbClr val="4A4A4A"/>
                </a:solidFill>
                <a:latin typeface="Lato"/>
                <a:ea typeface="Lato"/>
                <a:cs typeface="Lato"/>
                <a:sym typeface="Lato"/>
              </a:rPr>
              <a:t>GMR適応的探索によるターゲット接近度(Score)の向上推移</a:t>
            </a:r>
            <a:endParaRPr/>
          </a:p>
        </p:txBody>
      </p:sp>
      <p:sp>
        <p:nvSpPr>
          <p:cNvPr id="201" name="Google Shape;201;p20"/>
          <p:cNvSpPr txBox="1"/>
          <p:nvPr/>
        </p:nvSpPr>
        <p:spPr>
          <a:xfrm>
            <a:off x="571500" y="5884515"/>
            <a:ext cx="11049000" cy="27429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0056B3"/>
                </a:solidFill>
                <a:latin typeface="Lato"/>
                <a:ea typeface="Lato"/>
                <a:cs typeface="Lato"/>
                <a:sym typeface="Lato"/>
              </a:rPr>
              <a:t>逆解析は、目標値が明確な場合に非常に高速な収束を示すことが確認された。</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5"/>
        <p:cNvGrpSpPr/>
        <p:nvPr/>
      </p:nvGrpSpPr>
      <p:grpSpPr>
        <a:xfrm>
          <a:off x="0" y="0"/>
          <a:ext cx="0" cy="0"/>
          <a:chOff x="0" y="0"/>
          <a:chExt cx="0" cy="0"/>
        </a:xfrm>
      </p:grpSpPr>
      <p:pic>
        <p:nvPicPr>
          <p:cNvPr id="206" name="Google Shape;206;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7" name="Google Shape;207;p21" descr="image.png"/>
          <p:cNvPicPr preferRelativeResize="0"/>
          <p:nvPr/>
        </p:nvPicPr>
        <p:blipFill rotWithShape="1">
          <a:blip r:embed="rId4">
            <a:alphaModFix/>
          </a:blip>
          <a:srcRect/>
          <a:stretch/>
        </p:blipFill>
        <p:spPr>
          <a:xfrm>
            <a:off x="571500" y="2252662"/>
            <a:ext cx="3333750" cy="3333750"/>
          </a:xfrm>
          <a:prstGeom prst="rect">
            <a:avLst/>
          </a:prstGeom>
          <a:noFill/>
          <a:ln>
            <a:noFill/>
          </a:ln>
        </p:spPr>
      </p:pic>
      <p:pic>
        <p:nvPicPr>
          <p:cNvPr id="208" name="Google Shape;208;p21" descr="image.png"/>
          <p:cNvPicPr preferRelativeResize="0"/>
          <p:nvPr/>
        </p:nvPicPr>
        <p:blipFill rotWithShape="1">
          <a:blip r:embed="rId5">
            <a:alphaModFix/>
          </a:blip>
          <a:srcRect/>
          <a:stretch/>
        </p:blipFill>
        <p:spPr>
          <a:xfrm>
            <a:off x="6286500" y="3230909"/>
            <a:ext cx="5334000" cy="2287785"/>
          </a:xfrm>
          <a:prstGeom prst="rect">
            <a:avLst/>
          </a:prstGeom>
          <a:noFill/>
          <a:ln>
            <a:noFill/>
          </a:ln>
        </p:spPr>
      </p:pic>
      <p:sp>
        <p:nvSpPr>
          <p:cNvPr id="209" name="Google Shape;209;p21"/>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1F3F"/>
                </a:solidFill>
                <a:latin typeface="Poppins"/>
                <a:ea typeface="Poppins"/>
                <a:cs typeface="Poppins"/>
                <a:sym typeface="Poppins"/>
              </a:rPr>
              <a:t>Q1. 目標値の設定と「AIの迷子」</a:t>
            </a:r>
            <a:endParaRPr/>
          </a:p>
        </p:txBody>
      </p:sp>
      <p:sp>
        <p:nvSpPr>
          <p:cNvPr id="210" name="Google Shape;210;p21"/>
          <p:cNvSpPr/>
          <p:nvPr/>
        </p:nvSpPr>
        <p:spPr>
          <a:xfrm>
            <a:off x="571500" y="571500"/>
            <a:ext cx="76200" cy="6000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1"/>
          <p:cNvSpPr txBox="1"/>
          <p:nvPr/>
        </p:nvSpPr>
        <p:spPr>
          <a:xfrm>
            <a:off x="6286500" y="2491829"/>
            <a:ext cx="5334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A4A4A"/>
                </a:solidFill>
                <a:latin typeface="Lato"/>
                <a:ea typeface="Lato"/>
                <a:cs typeface="Lato"/>
                <a:sym typeface="Lato"/>
              </a:rPr>
              <a:t>トレードオフが強い環境では、目標同士がぶつかりPIの対数和が消失し、AIがどこを探索していいか迷子になる現象が起きました。</a:t>
            </a:r>
            <a:endParaRPr/>
          </a:p>
        </p:txBody>
      </p:sp>
      <p:pic>
        <p:nvPicPr>
          <p:cNvPr id="212" name="Google Shape;212;p21" descr="image.png"/>
          <p:cNvPicPr preferRelativeResize="0"/>
          <p:nvPr/>
        </p:nvPicPr>
        <p:blipFill rotWithShape="1">
          <a:blip r:embed="rId6">
            <a:alphaModFix/>
          </a:blip>
          <a:srcRect/>
          <a:stretch/>
        </p:blipFill>
        <p:spPr>
          <a:xfrm>
            <a:off x="571500" y="2252662"/>
            <a:ext cx="3333750" cy="3333750"/>
          </a:xfrm>
          <a:prstGeom prst="rect">
            <a:avLst/>
          </a:prstGeom>
          <a:noFill/>
          <a:ln>
            <a:noFill/>
          </a:ln>
        </p:spPr>
      </p:pic>
      <p:sp>
        <p:nvSpPr>
          <p:cNvPr id="213" name="Google Shape;213;p21"/>
          <p:cNvSpPr txBox="1"/>
          <p:nvPr/>
        </p:nvSpPr>
        <p:spPr>
          <a:xfrm>
            <a:off x="6619875" y="3516659"/>
            <a:ext cx="4950618"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C5A059"/>
                </a:solidFill>
                <a:latin typeface="Poppins"/>
                <a:ea typeface="Poppins"/>
                <a:cs typeface="Poppins"/>
                <a:sym typeface="Poppins"/>
              </a:rPr>
              <a:t>質問事項：</a:t>
            </a:r>
            <a:endParaRPr/>
          </a:p>
        </p:txBody>
      </p:sp>
      <p:sp>
        <p:nvSpPr>
          <p:cNvPr id="214" name="Google Shape;214;p21"/>
          <p:cNvSpPr txBox="1"/>
          <p:nvPr/>
        </p:nvSpPr>
        <p:spPr>
          <a:xfrm>
            <a:off x="6619875" y="3964334"/>
            <a:ext cx="4714875"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1A1A1A"/>
                </a:solidFill>
                <a:latin typeface="Lato"/>
                <a:ea typeface="Lato"/>
                <a:cs typeface="Lato"/>
                <a:sym typeface="Lato"/>
              </a:rPr>
              <a:t>AIが「どっちも無理だ」と諦めないようにするために、初期のターゲット（目標値）はどの程度「欲張らずに」設定するのがコツでしょうか？実験の途中で目標を修正していくべきですか？</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8"/>
        <p:cNvGrpSpPr/>
        <p:nvPr/>
      </p:nvGrpSpPr>
      <p:grpSpPr>
        <a:xfrm>
          <a:off x="0" y="0"/>
          <a:ext cx="0" cy="0"/>
          <a:chOff x="0" y="0"/>
          <a:chExt cx="0" cy="0"/>
        </a:xfrm>
      </p:grpSpPr>
      <p:pic>
        <p:nvPicPr>
          <p:cNvPr id="221" name="Google Shape;221;p22" descr="image.png"/>
          <p:cNvPicPr preferRelativeResize="0"/>
          <p:nvPr/>
        </p:nvPicPr>
        <p:blipFill rotWithShape="1">
          <a:blip r:embed="rId3">
            <a:alphaModFix/>
          </a:blip>
          <a:srcRect/>
          <a:stretch/>
        </p:blipFill>
        <p:spPr>
          <a:xfrm>
            <a:off x="960836" y="1375006"/>
            <a:ext cx="7069260" cy="2129730"/>
          </a:xfrm>
          <a:prstGeom prst="rect">
            <a:avLst/>
          </a:prstGeom>
          <a:noFill/>
          <a:ln>
            <a:noFill/>
          </a:ln>
        </p:spPr>
      </p:pic>
      <p:sp>
        <p:nvSpPr>
          <p:cNvPr id="222" name="Google Shape;222;p22"/>
          <p:cNvSpPr txBox="1"/>
          <p:nvPr/>
        </p:nvSpPr>
        <p:spPr>
          <a:xfrm>
            <a:off x="762000" y="571500"/>
            <a:ext cx="11401425"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1F3F"/>
                </a:solidFill>
                <a:latin typeface="Poppins"/>
                <a:ea typeface="Poppins"/>
                <a:cs typeface="Poppins"/>
                <a:sym typeface="Poppins"/>
              </a:rPr>
              <a:t>Q2. </a:t>
            </a:r>
            <a:r>
              <a:rPr lang="en-US" sz="3150" b="1" i="0" u="none" strike="noStrike" cap="none" dirty="0" err="1">
                <a:solidFill>
                  <a:srgbClr val="001F3F"/>
                </a:solidFill>
                <a:latin typeface="Poppins"/>
                <a:ea typeface="Poppins"/>
                <a:cs typeface="Poppins"/>
                <a:sym typeface="Poppins"/>
              </a:rPr>
              <a:t>実務上での使い分け</a:t>
            </a:r>
            <a:endParaRPr dirty="0"/>
          </a:p>
        </p:txBody>
      </p:sp>
      <p:sp>
        <p:nvSpPr>
          <p:cNvPr id="223" name="Google Shape;223;p22"/>
          <p:cNvSpPr/>
          <p:nvPr/>
        </p:nvSpPr>
        <p:spPr>
          <a:xfrm>
            <a:off x="571500" y="571500"/>
            <a:ext cx="76200" cy="6000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7" name="Google Shape;227;p22"/>
          <p:cNvSpPr txBox="1"/>
          <p:nvPr/>
        </p:nvSpPr>
        <p:spPr>
          <a:xfrm>
            <a:off x="1246585" y="1708381"/>
            <a:ext cx="505063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FFFFFF"/>
                </a:solidFill>
                <a:latin typeface="Poppins"/>
                <a:ea typeface="Poppins"/>
                <a:cs typeface="Poppins"/>
                <a:sym typeface="Poppins"/>
              </a:rPr>
              <a:t>質問事項：</a:t>
            </a:r>
            <a:endParaRPr/>
          </a:p>
        </p:txBody>
      </p:sp>
      <p:sp>
        <p:nvSpPr>
          <p:cNvPr id="228" name="Google Shape;228;p22"/>
          <p:cNvSpPr txBox="1"/>
          <p:nvPr/>
        </p:nvSpPr>
        <p:spPr>
          <a:xfrm>
            <a:off x="1081087" y="2182315"/>
            <a:ext cx="6624811" cy="118186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ja-JP" altLang="en-US" sz="1600">
                <a:solidFill>
                  <a:schemeClr val="bg1"/>
                </a:solidFill>
              </a:rPr>
              <a:t>「全く新しい新材料を探索するフェーズ」と</a:t>
            </a:r>
            <a:endParaRPr lang="en-US" altLang="ja-JP" sz="1600" dirty="0">
              <a:solidFill>
                <a:schemeClr val="bg1"/>
              </a:solidFill>
            </a:endParaRPr>
          </a:p>
          <a:p>
            <a:pPr marL="0" marR="0" lvl="0" indent="0" algn="l" rtl="0">
              <a:lnSpc>
                <a:spcPct val="160000"/>
              </a:lnSpc>
              <a:spcBef>
                <a:spcPts val="0"/>
              </a:spcBef>
              <a:spcAft>
                <a:spcPts val="0"/>
              </a:spcAft>
              <a:buNone/>
            </a:pPr>
            <a:r>
              <a:rPr lang="ja-JP" altLang="en-US" sz="1600">
                <a:solidFill>
                  <a:schemeClr val="bg1"/>
                </a:solidFill>
              </a:rPr>
              <a:t>「既存プロセスの条件を微調整して目標性能に合わせるフェーズ」では、どちらの手法がより適していると考えられますか？</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2"/>
        <p:cNvGrpSpPr/>
        <p:nvPr/>
      </p:nvGrpSpPr>
      <p:grpSpPr>
        <a:xfrm>
          <a:off x="0" y="0"/>
          <a:ext cx="0" cy="0"/>
          <a:chOff x="0" y="0"/>
          <a:chExt cx="0" cy="0"/>
        </a:xfrm>
      </p:grpSpPr>
      <p:pic>
        <p:nvPicPr>
          <p:cNvPr id="233" name="Google Shape;233;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4" name="Google Shape;234;p23" descr="image.png"/>
          <p:cNvPicPr preferRelativeResize="0"/>
          <p:nvPr/>
        </p:nvPicPr>
        <p:blipFill rotWithShape="1">
          <a:blip r:embed="rId4">
            <a:alphaModFix/>
          </a:blip>
          <a:srcRect/>
          <a:stretch/>
        </p:blipFill>
        <p:spPr>
          <a:xfrm>
            <a:off x="5372100" y="3505200"/>
            <a:ext cx="6629400" cy="1739205"/>
          </a:xfrm>
          <a:prstGeom prst="rect">
            <a:avLst/>
          </a:prstGeom>
          <a:noFill/>
          <a:ln>
            <a:noFill/>
          </a:ln>
        </p:spPr>
      </p:pic>
      <p:sp>
        <p:nvSpPr>
          <p:cNvPr id="235" name="Google Shape;235;p23"/>
          <p:cNvSpPr txBox="1"/>
          <p:nvPr/>
        </p:nvSpPr>
        <p:spPr>
          <a:xfrm>
            <a:off x="762000" y="571500"/>
            <a:ext cx="11401425" cy="600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1F3F"/>
                </a:solidFill>
                <a:latin typeface="Poppins"/>
                <a:ea typeface="Poppins"/>
                <a:cs typeface="Poppins"/>
                <a:sym typeface="Poppins"/>
              </a:rPr>
              <a:t>Q3. 未知の相関と既知の相関</a:t>
            </a:r>
            <a:endParaRPr/>
          </a:p>
        </p:txBody>
      </p:sp>
      <p:sp>
        <p:nvSpPr>
          <p:cNvPr id="236" name="Google Shape;236;p23"/>
          <p:cNvSpPr/>
          <p:nvPr/>
        </p:nvSpPr>
        <p:spPr>
          <a:xfrm>
            <a:off x="571500" y="571500"/>
            <a:ext cx="76200" cy="6000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7" name="Google Shape;237;p23"/>
          <p:cNvSpPr txBox="1"/>
          <p:nvPr/>
        </p:nvSpPr>
        <p:spPr>
          <a:xfrm>
            <a:off x="571500" y="2594669"/>
            <a:ext cx="4419600" cy="1371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0" b="1" i="0" u="none" strike="noStrike" cap="none">
                <a:solidFill>
                  <a:srgbClr val="C5A059"/>
                </a:solidFill>
                <a:latin typeface="Lato"/>
                <a:ea typeface="Lato"/>
                <a:cs typeface="Lato"/>
                <a:sym typeface="Lato"/>
              </a:rPr>
              <a:t>80-90%</a:t>
            </a:r>
            <a:endParaRPr/>
          </a:p>
        </p:txBody>
      </p:sp>
      <p:sp>
        <p:nvSpPr>
          <p:cNvPr id="238" name="Google Shape;238;p23"/>
          <p:cNvSpPr txBox="1"/>
          <p:nvPr/>
        </p:nvSpPr>
        <p:spPr>
          <a:xfrm>
            <a:off x="571500" y="4137719"/>
            <a:ext cx="4419600" cy="27429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1" i="0" u="none" strike="noStrike" cap="none">
                <a:solidFill>
                  <a:srgbClr val="4A4A4A"/>
                </a:solidFill>
                <a:latin typeface="Lato"/>
                <a:ea typeface="Lato"/>
                <a:cs typeface="Lato"/>
                <a:sym typeface="Lato"/>
              </a:rPr>
              <a:t>既知のドメイン知識</a:t>
            </a:r>
            <a:endParaRPr/>
          </a:p>
        </p:txBody>
      </p:sp>
      <p:sp>
        <p:nvSpPr>
          <p:cNvPr id="239" name="Google Shape;239;p23"/>
          <p:cNvSpPr txBox="1"/>
          <p:nvPr/>
        </p:nvSpPr>
        <p:spPr>
          <a:xfrm>
            <a:off x="5372100" y="2766119"/>
            <a:ext cx="66294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A4A4A"/>
                </a:solidFill>
                <a:latin typeface="Lato"/>
                <a:ea typeface="Lato"/>
                <a:cs typeface="Lato"/>
                <a:sym typeface="Lato"/>
              </a:rPr>
              <a:t>「外挿領域での相関は不明なので考慮しなくてよい」という考え方に対し、物理的に明白なトレードオフ（例：温度上昇とコスト増）もあります。</a:t>
            </a:r>
            <a:endParaRPr/>
          </a:p>
        </p:txBody>
      </p:sp>
      <p:sp>
        <p:nvSpPr>
          <p:cNvPr id="240" name="Google Shape;240;p23"/>
          <p:cNvSpPr txBox="1"/>
          <p:nvPr/>
        </p:nvSpPr>
        <p:spPr>
          <a:xfrm>
            <a:off x="5657850" y="3790950"/>
            <a:ext cx="636079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01F3F"/>
                </a:solidFill>
                <a:latin typeface="Poppins"/>
                <a:ea typeface="Poppins"/>
                <a:cs typeface="Poppins"/>
                <a:sym typeface="Poppins"/>
              </a:rPr>
              <a:t>質問事項：</a:t>
            </a:r>
            <a:endParaRPr/>
          </a:p>
        </p:txBody>
      </p:sp>
      <p:sp>
        <p:nvSpPr>
          <p:cNvPr id="241" name="Google Shape;241;p23"/>
          <p:cNvSpPr txBox="1"/>
          <p:nvPr/>
        </p:nvSpPr>
        <p:spPr>
          <a:xfrm>
            <a:off x="5657850" y="4238625"/>
            <a:ext cx="60579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1A1A1A"/>
                </a:solidFill>
                <a:latin typeface="Lato"/>
                <a:ea typeface="Lato"/>
                <a:cs typeface="Lato"/>
                <a:sym typeface="Lato"/>
              </a:rPr>
              <a:t>あえて「教えずにAIに探させる」ことのメリットや、物理知識を組み込むべきか否かの判断基準を教えてください。</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5"/>
        <p:cNvGrpSpPr/>
        <p:nvPr/>
      </p:nvGrpSpPr>
      <p:grpSpPr>
        <a:xfrm>
          <a:off x="0" y="0"/>
          <a:ext cx="0" cy="0"/>
          <a:chOff x="0" y="0"/>
          <a:chExt cx="0" cy="0"/>
        </a:xfrm>
      </p:grpSpPr>
      <p:pic>
        <p:nvPicPr>
          <p:cNvPr id="246" name="Google Shape;246;p24" descr="image.png"/>
          <p:cNvPicPr preferRelativeResize="0"/>
          <p:nvPr/>
        </p:nvPicPr>
        <p:blipFill rotWithShape="1">
          <a:blip r:embed="rId3">
            <a:alphaModFix/>
          </a:blip>
          <a:srcRect/>
          <a:stretch/>
        </p:blipFill>
        <p:spPr>
          <a:xfrm>
            <a:off x="0" y="13594"/>
            <a:ext cx="12192000" cy="6858000"/>
          </a:xfrm>
          <a:prstGeom prst="rect">
            <a:avLst/>
          </a:prstGeom>
          <a:noFill/>
          <a:ln>
            <a:noFill/>
          </a:ln>
        </p:spPr>
      </p:pic>
      <p:sp>
        <p:nvSpPr>
          <p:cNvPr id="247" name="Google Shape;247;p24"/>
          <p:cNvSpPr txBox="1"/>
          <p:nvPr/>
        </p:nvSpPr>
        <p:spPr>
          <a:xfrm>
            <a:off x="375284" y="922139"/>
            <a:ext cx="11441430" cy="114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001F3F"/>
                </a:solidFill>
                <a:latin typeface="Poppins"/>
                <a:ea typeface="Poppins"/>
                <a:cs typeface="Poppins"/>
                <a:sym typeface="Poppins"/>
              </a:rPr>
              <a:t>ご清聴ありがとうございました</a:t>
            </a:r>
            <a:endParaRPr/>
          </a:p>
        </p:txBody>
      </p:sp>
      <p:sp>
        <p:nvSpPr>
          <p:cNvPr id="248" name="Google Shape;248;p24"/>
          <p:cNvSpPr txBox="1"/>
          <p:nvPr/>
        </p:nvSpPr>
        <p:spPr>
          <a:xfrm>
            <a:off x="3776662" y="2484239"/>
            <a:ext cx="4638675"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4A4A4A"/>
                </a:solidFill>
                <a:latin typeface="Lato"/>
                <a:ea typeface="Lato"/>
                <a:cs typeface="Lato"/>
                <a:sym typeface="Lato"/>
              </a:rPr>
              <a:t>多目的最適化の理論と実務の架け橋に向けて</a:t>
            </a:r>
            <a:endParaRPr/>
          </a:p>
        </p:txBody>
      </p:sp>
      <p:sp>
        <p:nvSpPr>
          <p:cNvPr id="249" name="Google Shape;249;p24"/>
          <p:cNvSpPr/>
          <p:nvPr/>
        </p:nvSpPr>
        <p:spPr>
          <a:xfrm>
            <a:off x="5619750" y="3459509"/>
            <a:ext cx="952500" cy="38100"/>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4"/>
          <p:cNvSpPr txBox="1"/>
          <p:nvPr/>
        </p:nvSpPr>
        <p:spPr>
          <a:xfrm>
            <a:off x="2286000" y="4240559"/>
            <a:ext cx="36195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A4A4A"/>
                </a:solidFill>
                <a:latin typeface="Lato"/>
                <a:ea typeface="Lato"/>
                <a:cs typeface="Lato"/>
                <a:sym typeface="Lato"/>
              </a:rPr>
              <a:t>検証まとめ:</a:t>
            </a:r>
            <a:endParaRPr/>
          </a:p>
        </p:txBody>
      </p:sp>
      <p:sp>
        <p:nvSpPr>
          <p:cNvPr id="251" name="Google Shape;251;p24"/>
          <p:cNvSpPr txBox="1"/>
          <p:nvPr/>
        </p:nvSpPr>
        <p:spPr>
          <a:xfrm>
            <a:off x="6677025" y="4240559"/>
            <a:ext cx="3228975" cy="274290"/>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US" sz="1350" b="1" i="0" u="none" strike="noStrike" cap="none">
                <a:solidFill>
                  <a:srgbClr val="4A4A4A"/>
                </a:solidFill>
                <a:latin typeface="Lato"/>
                <a:ea typeface="Lato"/>
                <a:cs typeface="Lato"/>
                <a:sym typeface="Lato"/>
              </a:rPr>
              <a:t>Discussion:</a:t>
            </a:r>
            <a:endParaRPr/>
          </a:p>
        </p:txBody>
      </p:sp>
      <p:sp>
        <p:nvSpPr>
          <p:cNvPr id="252" name="Google Shape;252;p24"/>
          <p:cNvSpPr txBox="1"/>
          <p:nvPr/>
        </p:nvSpPr>
        <p:spPr>
          <a:xfrm>
            <a:off x="6677025" y="4705350"/>
            <a:ext cx="3228975" cy="304800"/>
          </a:xfrm>
          <a:prstGeom prst="rect">
            <a:avLst/>
          </a:prstGeom>
          <a:noFill/>
          <a:ln>
            <a:noFill/>
          </a:ln>
        </p:spPr>
        <p:txBody>
          <a:bodyPr spcFirstLastPara="1" wrap="square" lIns="0" tIns="0" rIns="0" bIns="0" anchor="t" anchorCtr="0">
            <a:spAutoFit/>
          </a:bodyPr>
          <a:lstStyle/>
          <a:p>
            <a:pPr marL="0" marR="0" lvl="0" indent="0" algn="r" rtl="0">
              <a:lnSpc>
                <a:spcPct val="160000"/>
              </a:lnSpc>
              <a:spcBef>
                <a:spcPts val="0"/>
              </a:spcBef>
              <a:spcAft>
                <a:spcPts val="0"/>
              </a:spcAft>
              <a:buNone/>
            </a:pPr>
            <a:r>
              <a:rPr lang="en-US" sz="1500" b="1" i="0" u="none" strike="noStrike" cap="none">
                <a:solidFill>
                  <a:srgbClr val="4A4A4A"/>
                </a:solidFill>
                <a:latin typeface="Lato"/>
                <a:ea typeface="Lato"/>
                <a:cs typeface="Lato"/>
                <a:sym typeface="Lato"/>
              </a:rPr>
              <a:t>質疑応答</a:t>
            </a:r>
            <a:endParaRPr/>
          </a:p>
        </p:txBody>
      </p:sp>
      <p:sp>
        <p:nvSpPr>
          <p:cNvPr id="253" name="Google Shape;253;p24"/>
          <p:cNvSpPr txBox="1"/>
          <p:nvPr/>
        </p:nvSpPr>
        <p:spPr>
          <a:xfrm>
            <a:off x="2571750" y="4685347"/>
            <a:ext cx="952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4A4A"/>
                </a:solidFill>
                <a:latin typeface="Lato"/>
                <a:ea typeface="Lato"/>
                <a:cs typeface="Lato"/>
                <a:sym typeface="Lato"/>
              </a:rPr>
              <a:t>•</a:t>
            </a:r>
            <a:endParaRPr/>
          </a:p>
        </p:txBody>
      </p:sp>
      <p:sp>
        <p:nvSpPr>
          <p:cNvPr id="254" name="Google Shape;254;p24"/>
          <p:cNvSpPr txBox="1"/>
          <p:nvPr/>
        </p:nvSpPr>
        <p:spPr>
          <a:xfrm>
            <a:off x="2667000" y="4686300"/>
            <a:ext cx="3238500" cy="274290"/>
          </a:xfrm>
          <a:prstGeom prst="rect">
            <a:avLst/>
          </a:prstGeom>
          <a:noFill/>
          <a:ln>
            <a:noFill/>
          </a:ln>
        </p:spPr>
        <p:txBody>
          <a:bodyPr spcFirstLastPara="1" wrap="square" lIns="9525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err="1">
                <a:solidFill>
                  <a:srgbClr val="4A4A4A"/>
                </a:solidFill>
                <a:latin typeface="Lato"/>
                <a:ea typeface="Lato"/>
                <a:cs typeface="Lato"/>
                <a:sym typeface="Lato"/>
              </a:rPr>
              <a:t>BOはパレート境界の探索に優れる</a:t>
            </a:r>
            <a:endParaRPr dirty="0"/>
          </a:p>
        </p:txBody>
      </p:sp>
      <p:sp>
        <p:nvSpPr>
          <p:cNvPr id="255" name="Google Shape;255;p24"/>
          <p:cNvSpPr txBox="1"/>
          <p:nvPr/>
        </p:nvSpPr>
        <p:spPr>
          <a:xfrm>
            <a:off x="2571750" y="4959637"/>
            <a:ext cx="952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4A4A"/>
                </a:solidFill>
                <a:latin typeface="Lato"/>
                <a:ea typeface="Lato"/>
                <a:cs typeface="Lato"/>
                <a:sym typeface="Lato"/>
              </a:rPr>
              <a:t>•</a:t>
            </a:r>
            <a:endParaRPr/>
          </a:p>
        </p:txBody>
      </p:sp>
      <p:sp>
        <p:nvSpPr>
          <p:cNvPr id="256" name="Google Shape;256;p24"/>
          <p:cNvSpPr txBox="1"/>
          <p:nvPr/>
        </p:nvSpPr>
        <p:spPr>
          <a:xfrm>
            <a:off x="2667000" y="4960590"/>
            <a:ext cx="3238500" cy="274290"/>
          </a:xfrm>
          <a:prstGeom prst="rect">
            <a:avLst/>
          </a:prstGeom>
          <a:noFill/>
          <a:ln>
            <a:noFill/>
          </a:ln>
        </p:spPr>
        <p:txBody>
          <a:bodyPr spcFirstLastPara="1" wrap="square" lIns="9525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err="1">
                <a:solidFill>
                  <a:srgbClr val="4A4A4A"/>
                </a:solidFill>
                <a:latin typeface="Lato"/>
                <a:ea typeface="Lato"/>
                <a:cs typeface="Lato"/>
                <a:sym typeface="Lato"/>
              </a:rPr>
              <a:t>GMRは目標駆動型の高速設計が可能</a:t>
            </a:r>
            <a:endParaRPr dirty="0"/>
          </a:p>
        </p:txBody>
      </p:sp>
      <p:sp>
        <p:nvSpPr>
          <p:cNvPr id="257" name="Google Shape;257;p24"/>
          <p:cNvSpPr txBox="1"/>
          <p:nvPr/>
        </p:nvSpPr>
        <p:spPr>
          <a:xfrm>
            <a:off x="2571750" y="5233927"/>
            <a:ext cx="9525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4A4A"/>
                </a:solidFill>
                <a:latin typeface="Lato"/>
                <a:ea typeface="Lato"/>
                <a:cs typeface="Lato"/>
                <a:sym typeface="Lato"/>
              </a:rPr>
              <a:t>•</a:t>
            </a:r>
            <a:endParaRPr/>
          </a:p>
        </p:txBody>
      </p:sp>
      <p:sp>
        <p:nvSpPr>
          <p:cNvPr id="258" name="Google Shape;258;p24"/>
          <p:cNvSpPr txBox="1"/>
          <p:nvPr/>
        </p:nvSpPr>
        <p:spPr>
          <a:xfrm>
            <a:off x="2667000" y="5234880"/>
            <a:ext cx="3905250" cy="332399"/>
          </a:xfrm>
          <a:prstGeom prst="rect">
            <a:avLst/>
          </a:prstGeom>
          <a:noFill/>
          <a:ln>
            <a:noFill/>
          </a:ln>
        </p:spPr>
        <p:txBody>
          <a:bodyPr spcFirstLastPara="1" wrap="square" lIns="9525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err="1">
                <a:solidFill>
                  <a:srgbClr val="4A4A4A"/>
                </a:solidFill>
                <a:latin typeface="Lato"/>
                <a:ea typeface="Lato"/>
                <a:cs typeface="Lato"/>
                <a:sym typeface="Lato"/>
              </a:rPr>
              <a:t>トレードオフ環境では目標管理が成否を分ける</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TotalTime>
  <Words>892</Words>
  <Application>Microsoft Macintosh PowerPoint</Application>
  <PresentationFormat>ワイド画面</PresentationFormat>
  <Paragraphs>112</Paragraphs>
  <Slides>13</Slides>
  <Notes>12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13</vt:i4>
      </vt:variant>
    </vt:vector>
  </HeadingPairs>
  <TitlesOfParts>
    <vt:vector size="20" baseType="lpstr">
      <vt:lpstr>Lato</vt:lpstr>
      <vt:lpstr>Google Sans</vt:lpstr>
      <vt:lpstr>Calibri</vt:lpstr>
      <vt:lpstr>Google Sans Text</vt:lpstr>
      <vt:lpstr>Poppins</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達哉 彦坂</cp:lastModifiedBy>
  <cp:revision>3</cp:revision>
  <dcterms:modified xsi:type="dcterms:W3CDTF">2026-05-10T12:16:49Z</dcterms:modified>
</cp:coreProperties>
</file>